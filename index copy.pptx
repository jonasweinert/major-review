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notesMaster" Target="notesMasters/notesMaster1.xml" /><Relationship Id="rId61" Type="http://schemas.openxmlformats.org/officeDocument/2006/relationships/viewProps" Target="viewProps.xml" /><Relationship Id="rId60" Type="http://schemas.openxmlformats.org/officeDocument/2006/relationships/presProps" Target="presProps.xml" /><Relationship Id="rId1" Type="http://schemas.openxmlformats.org/officeDocument/2006/relationships/slideMaster" Target="slideMasters/slideMaster1.xml" /><Relationship Id="rId63" Type="http://schemas.openxmlformats.org/officeDocument/2006/relationships/tableStyles" Target="tableStyles.xml" /><Relationship Id="rId6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C1 &amp; C2: Both NPI and vaccines C3: NPI</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GLM: small sample but requires normal distributions GLS: needs large sample but more flexible to distributoions Bayes: requires priors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371/journal.pone.0284433" TargetMode="External" /><Relationship Id="rId3" Type="http://schemas.openxmlformats.org/officeDocument/2006/relationships/hyperlink" Target="https://doi.org/10.3390/vaccines9101100" TargetMode="External" /><Relationship Id="rId4" Type="http://schemas.openxmlformats.org/officeDocument/2006/relationships/hyperlink" Target="https://doi.org/10.1136/bmjopen-2023-072326" TargetMode="External" /><Relationship Id="rId5" Type="http://schemas.openxmlformats.org/officeDocument/2006/relationships/hyperlink" Target="https://doi.org/10.3982/ECTA12723" TargetMode="External" /><Relationship Id="rId6" Type="http://schemas.openxmlformats.org/officeDocument/2006/relationships/hyperlink" Target="https://doi.org/10.1016/j.heliyon.2023.e17418" TargetMode="External" /><Relationship Id="rId7" Type="http://schemas.openxmlformats.org/officeDocument/2006/relationships/hyperlink" Target="https://doi.org/10.3390/vaccines9040318" TargetMode="External" /><Relationship Id="rId8" Type="http://schemas.openxmlformats.org/officeDocument/2006/relationships/hyperlink" Target="https://doi.org/10.1111/ectj.12097" TargetMode="External" /><Relationship Id="rId9" Type="http://schemas.openxmlformats.org/officeDocument/2006/relationships/hyperlink" Target="https://doi.org/10.3389/fpsyg.2021.627669" TargetMode="External" /><Relationship Id="rId10" Type="http://schemas.openxmlformats.org/officeDocument/2006/relationships/hyperlink" Target="https://doi.org/10.3934/publichealth.2022018" TargetMode="External" /><Relationship Id="rId11" Type="http://schemas.openxmlformats.org/officeDocument/2006/relationships/hyperlink" Target="https://doi.org/10.1038/s41598-024-66756-w" TargetMode="External" /><Relationship Id="rId12" Type="http://schemas.openxmlformats.org/officeDocument/2006/relationships/hyperlink" Target="https://doi.org/10.1016/S2542-5196(20)30301-6" TargetMode="External" /><Relationship Id="rId13" Type="http://schemas.openxmlformats.org/officeDocument/2006/relationships/hyperlink" Target="https://doi.org/10.1108/EJM-12-2022-0911" TargetMode="External" /><Relationship Id="rId14" Type="http://schemas.openxmlformats.org/officeDocument/2006/relationships/hyperlink" Target="https://www.jstor.org/stable/1830580" TargetMode="External" /><Relationship Id="rId15" Type="http://schemas.openxmlformats.org/officeDocument/2006/relationships/hyperlink" Target="https://doi.org/10.1093/heapol/czab110" TargetMode="External" /><Relationship Id="rId16" Type="http://schemas.openxmlformats.org/officeDocument/2006/relationships/hyperlink" Target="https://doi.org/10.1016/j.puhip.2022.100279" TargetMode="External" /><Relationship Id="rId17" Type="http://schemas.openxmlformats.org/officeDocument/2006/relationships/hyperlink" Target="https://doi.org/10.1186/s13584-020-00429-7" TargetMode="External" /><Relationship Id="rId18" Type="http://schemas.openxmlformats.org/officeDocument/2006/relationships/hyperlink" Target="https://doi.org/10.1016/j.gerinurse.2020.03.014" TargetMode="External" /><Relationship Id="rId19" Type="http://schemas.openxmlformats.org/officeDocument/2006/relationships/hyperlink" Target="https://doi.org/10.1371/journal.pone.0245135" TargetMode="External" /><Relationship Id="rId20" Type="http://schemas.openxmlformats.org/officeDocument/2006/relationships/hyperlink" Target="https://doi.org/10.3390/healthcare9121700" TargetMode="External" /><Relationship Id="rId21" Type="http://schemas.openxmlformats.org/officeDocument/2006/relationships/hyperlink" Target="https://doi.org/10.1016/j.jjie.2024.101335" TargetMode="External" /><Relationship Id="rId22" Type="http://schemas.openxmlformats.org/officeDocument/2006/relationships/hyperlink" Target="https://doi.org/10.1186/s40545-021-00307-w" TargetMode="External" /><Relationship Id="rId23" Type="http://schemas.openxmlformats.org/officeDocument/2006/relationships/hyperlink" Target="https://doi.org/10.3390/encyclopedia2030081" TargetMode="External" /><Relationship Id="rId24" Type="http://schemas.openxmlformats.org/officeDocument/2006/relationships/hyperlink" Target="https://doi.org/10.1111/spc3.12596" TargetMode="External" /><Relationship Id="rId25" Type="http://schemas.openxmlformats.org/officeDocument/2006/relationships/hyperlink" Target="https://doi.org/10.1016/j.puhe.2024.03.024" TargetMode="External" /><Relationship Id="rId26" Type="http://schemas.openxmlformats.org/officeDocument/2006/relationships/hyperlink" Target="https://doi.org/10.2307/1914288" TargetMode="External" /><Relationship Id="rId27" Type="http://schemas.openxmlformats.org/officeDocument/2006/relationships/hyperlink" Target="https://doi.org/10.1016/j.puhip.2021.100192" TargetMode="External" /><Relationship Id="rId28" Type="http://schemas.openxmlformats.org/officeDocument/2006/relationships/hyperlink" Target="https://doi.org/10.1371/journal.pone.0258320" TargetMode="External" /><Relationship Id="rId29" Type="http://schemas.openxmlformats.org/officeDocument/2006/relationships/hyperlink" Target="https://doi.org/10.1371/journal.pcbi.1012345" TargetMode="External" /><Relationship Id="rId30" Type="http://schemas.openxmlformats.org/officeDocument/2006/relationships/hyperlink" Target="https://doi.org/10.1016/j.puhe.2021.09.005" TargetMode="External" /><Relationship Id="rId31" Type="http://schemas.openxmlformats.org/officeDocument/2006/relationships/hyperlink" Target="https://doi.org/10.1111/hsc.13872"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Understanding public health compliance in emergencies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An investigation of the heterogeneity and pathways of factors that shape our behaviour during public health crises in LMICs</a:t>
            </a:r>
            <a:br/>
            <a:br/>
            <a:r>
              <a:rPr/>
              <a:t>Jonas Weinert</a:t>
            </a:r>
          </a:p>
        </p:txBody>
      </p:sp>
      <p:sp>
        <p:nvSpPr>
          <p:cNvPr id="4" name="Date Placeholder 3"/>
          <p:cNvSpPr>
            <a:spLocks noGrp="1"/>
          </p:cNvSpPr>
          <p:nvPr>
            <p:ph idx="10" sz="half" type="dt"/>
          </p:nvPr>
        </p:nvSpPr>
        <p:spPr/>
        <p:txBody>
          <a:bodyPr/>
          <a:lstStyle/>
          <a:p>
            <a:pPr lvl="0" indent="0" marL="0">
              <a:buNone/>
            </a:pPr>
            <a:r>
              <a:rPr/>
              <a:t>2025-03-19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Global &amp; Policy Relevance</a:t>
            </a:r>
          </a:p>
          <a:p>
            <a:pPr lvl="0" indent="0" marL="0">
              <a:spcBef>
                <a:spcPts val="3000"/>
              </a:spcBef>
              <a:buNone/>
            </a:pPr>
            <a:r>
              <a:rPr b="1"/>
              <a:t>Pandemic Impact in LMICs</a:t>
            </a:r>
          </a:p>
          <a:p>
            <a:pPr lvl="0"/>
            <a:r>
              <a:rPr/>
              <a:t>COVID-19 exposed complex challenges in public health compliance, </a:t>
            </a:r>
            <a:r>
              <a:rPr>
                <a:latin typeface="Courier"/>
              </a:rPr>
              <a:t>especially in low- and middle-income countries</a:t>
            </a:r>
            <a:r>
              <a:rPr/>
              <a:t>.</a:t>
            </a:r>
          </a:p>
          <a:p>
            <a:pPr lvl="0"/>
            <a:r>
              <a:rPr/>
              <a:t>LMICs face unique socio-economic and institutional hurdles not fully captured by HIC-focused research.</a:t>
            </a:r>
          </a:p>
          <a:p>
            <a:pPr lvl="0"/>
            <a:r>
              <a:rPr/>
              <a:t>A better understanding of behavioural drivers is critical to design effective, context-specific public health interventions.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Enabling better policy making</a:t>
            </a:r>
          </a:p>
          <a:p>
            <a:pPr lvl="0" indent="0" marL="0">
              <a:spcBef>
                <a:spcPts val="3000"/>
              </a:spcBef>
              <a:buNone/>
            </a:pPr>
            <a:r>
              <a:rPr b="1"/>
              <a:t>Predicting policy sucess instead of only ex-post evaluations</a:t>
            </a:r>
          </a:p>
          <a:p>
            <a:pPr lvl="0"/>
            <a:r>
              <a:rPr/>
              <a:t>Policymakers require robust, causal evidence to balance health protection with economic stability.</a:t>
            </a:r>
          </a:p>
          <a:p>
            <a:pPr lvl="0"/>
            <a:r>
              <a:rPr/>
              <a:t>Identifying the causal pathways in compliance</a:t>
            </a:r>
          </a:p>
          <a:p>
            <a:pPr lvl="1"/>
            <a:r>
              <a:rPr/>
              <a:t>helps avoid unintended policy consequences</a:t>
            </a:r>
          </a:p>
          <a:p>
            <a:pPr lvl="1"/>
            <a:r>
              <a:rPr/>
              <a:t>enables faster and more promising decision making during crises.</a:t>
            </a:r>
          </a:p>
          <a:p>
            <a:pPr lvl="0" indent="0" marL="1270000">
              <a:buNone/>
            </a:pPr>
            <a:r>
              <a:rPr sz="2000"/>
              <a:t>Is there another pandemic coming? Yes. When? Which pathogen? How severe will it be? No one can say for sure.</a:t>
            </a:r>
          </a:p>
          <a:p>
            <a:pPr lvl="0" indent="0" marL="0">
              <a:buNone/>
            </a:pPr>
            <a:r>
              <a:rPr/>
              <a:t>Yonatan Grad, </a:t>
            </a:r>
            <a:r>
              <a:rPr>
                <a:latin typeface="Courier"/>
              </a:rPr>
              <a:t>Harvard T.H. Chan School of Public Health</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Research Question</a:t>
            </a:r>
          </a:p>
          <a:p>
            <a:pPr lvl="0" indent="0" marL="0">
              <a:spcBef>
                <a:spcPts val="3000"/>
              </a:spcBef>
              <a:buNone/>
            </a:pPr>
            <a:r>
              <a:rPr b="1"/>
              <a:t>How do </a:t>
            </a:r>
            <a:r>
              <a:rPr b="1">
                <a:latin typeface="Courier"/>
              </a:rPr>
              <a:t>dynamic interactions</a:t>
            </a:r>
            <a:r>
              <a:rPr b="1"/>
              <a:t> among diverse behavioural determinants shape public health </a:t>
            </a:r>
            <a:r>
              <a:rPr b="1">
                <a:latin typeface="Courier"/>
              </a:rPr>
              <a:t>compliance</a:t>
            </a:r>
            <a:r>
              <a:rPr b="1"/>
              <a:t> during infectious disease outbreaks in LMICs?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Literature Review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Literature search strategy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Searched Pubmed, WOS, Scopus</a:t>
            </a:r>
          </a:p>
          <a:p>
            <a:pPr lvl="0"/>
            <a:r>
              <a:rPr/>
              <a:t>Added sources through snowballing</a:t>
            </a:r>
          </a:p>
          <a:p>
            <a:pPr lvl="0"/>
            <a:r>
              <a:rPr/>
              <a:t>354 studies reviewed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Peers, Social Cohesion &amp; Norms I</a:t>
            </a:r>
          </a:p>
          <a:p>
            <a:pPr lvl="0"/>
            <a:r>
              <a:rPr>
                <a:latin typeface="Courier"/>
              </a:rPr>
              <a:t>Peer Influence and Group Identity</a:t>
            </a:r>
          </a:p>
          <a:p>
            <a:pPr lvl="1"/>
            <a:r>
              <a:rPr/>
              <a:t>Individuals are more likely to adopt precautions (mask-wearing, distancing) when their immediate social networks and local influencers model these behaviors (Erman and Medeiros 2021; Makridis and Wu 2021).</a:t>
            </a:r>
          </a:p>
          <a:p>
            <a:pPr lvl="1"/>
            <a:r>
              <a:rPr/>
              <a:t>Group identity reinforces compliance when health behaviors are seen as a mark of belonging (e.g. Gelfand et al. 2021).</a:t>
            </a:r>
          </a:p>
          <a:p>
            <a:pPr lvl="0"/>
            <a:r>
              <a:rPr>
                <a:latin typeface="Courier"/>
              </a:rPr>
              <a:t>Community Trust &amp; Norms</a:t>
            </a:r>
          </a:p>
          <a:p>
            <a:pPr lvl="1"/>
            <a:r>
              <a:rPr/>
              <a:t>Tight-knit communities facilitate adherence to health measures (Gelfand et al. 2021).</a:t>
            </a:r>
          </a:p>
          <a:p>
            <a:pPr lvl="1"/>
            <a:r>
              <a:rPr/>
              <a:t>Partisan identities and in-group norms can override other favtors, leading to selective compliance or even counter-normative behavior (Nair, Selvaraj, and Nambudiri 2022).</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Peers, Social Cohesion &amp; Norms II</a:t>
            </a:r>
          </a:p>
          <a:p>
            <a:pPr lvl="0"/>
            <a:r>
              <a:rPr>
                <a:latin typeface="Courier"/>
              </a:rPr>
              <a:t>Individualism vs. Collectivism</a:t>
            </a:r>
          </a:p>
          <a:p>
            <a:pPr lvl="1"/>
            <a:r>
              <a:rPr/>
              <a:t>Collectivist societies (e.g., many East Asian countries) achieved higher compliance by emphasizing group welfare, while individualistic cultures (e.g., the US, UK) often resisted restrictions (Gelfand et al. 2021).</a:t>
            </a:r>
          </a:p>
          <a:p>
            <a:pPr lvl="0"/>
            <a:r>
              <a:rPr>
                <a:latin typeface="Courier"/>
              </a:rPr>
              <a:t>Hierarchy and Norm Enforcement</a:t>
            </a:r>
          </a:p>
          <a:p>
            <a:pPr lvl="1"/>
            <a:r>
              <a:rPr/>
              <a:t>High power-distance cultures readily accepted top-down mandates (Alvarez-Galvez et al. 2023)</a:t>
            </a:r>
          </a:p>
          <a:p>
            <a:pPr lvl="1"/>
            <a:r>
              <a:rPr/>
              <a:t>Societies characterized by cultural tightness enforced uniform adherence through strict norms (Neville et al. 2021; Gelfand et al. 2021).</a:t>
            </a:r>
          </a:p>
          <a:p>
            <a:pPr lvl="1"/>
            <a:r>
              <a:rPr/>
              <a:t>Some resisted restrictions citing religious freedom (Filsinger and Freitag 2024).</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Health risk perceptions, knowledge &amp; trust</a:t>
            </a:r>
          </a:p>
          <a:p>
            <a:pPr lvl="0"/>
            <a:r>
              <a:rPr>
                <a:latin typeface="Courier"/>
              </a:rPr>
              <a:t>Risk perceptions shape compliance intentions</a:t>
            </a:r>
          </a:p>
          <a:p>
            <a:pPr lvl="1"/>
            <a:r>
              <a:rPr/>
              <a:t>Risk perceptions predict compliance (Bazrafshan et al. 2023; Zucoloto, Meneghini, and Martinez 2022).</a:t>
            </a:r>
          </a:p>
          <a:p>
            <a:pPr lvl="0"/>
            <a:r>
              <a:rPr>
                <a:latin typeface="Courier"/>
              </a:rPr>
              <a:t>Knowledge influences risk percetions</a:t>
            </a:r>
          </a:p>
          <a:p>
            <a:pPr lvl="1"/>
            <a:r>
              <a:rPr/>
              <a:t>Reliable knowledge from public health sources spurred early adoption of measures, whereas misinformation (</a:t>
            </a:r>
            <a:r>
              <a:rPr i="1"/>
              <a:t>infodemic</a:t>
            </a:r>
            <a:r>
              <a:rPr/>
              <a:t>) undermined compliance (Ferreira Caceres et al. 2022).</a:t>
            </a:r>
          </a:p>
          <a:p>
            <a:pPr lvl="1"/>
            <a:r>
              <a:rPr/>
              <a:t>Trust in institutions (He et al. 2022) &amp; information source consumption (Mohammed et al. 2021) mediate relationship between knowledge and perception.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Trade-offs between life and livelihood</a:t>
            </a:r>
          </a:p>
          <a:p>
            <a:pPr lvl="0"/>
            <a:r>
              <a:rPr>
                <a:latin typeface="Courier"/>
              </a:rPr>
              <a:t>Economic Imperatives vs. Health Preservation</a:t>
            </a:r>
          </a:p>
          <a:p>
            <a:pPr lvl="1"/>
            <a:r>
              <a:rPr/>
              <a:t>Individuals must often choose between immediate economic survival (working despite risks) and protecting their health by complying with mitigation measures.</a:t>
            </a:r>
          </a:p>
          <a:p>
            <a:pPr lvl="1"/>
            <a:r>
              <a:rPr/>
              <a:t>Lower-income groups often faced economic constraints that reduced their ability to comply (Stevens et al. 2021).</a:t>
            </a:r>
          </a:p>
          <a:p>
            <a:pPr lvl="1"/>
            <a:r>
              <a:rPr/>
              <a:t>Studies show that financially constrained individuals are more likely to forgo compliance measures in favor of income security (Miftode et al. 2021; Xiong, Wang, and Zhang 2024).</a:t>
            </a:r>
          </a:p>
          <a:p>
            <a:pPr lvl="0"/>
            <a:r>
              <a:rPr/>
              <a:t>If true, in LMICs, where economic vulnerability is pronounced, the trade-off between life (health) and livelihood becomes even more critical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Institutional context, partisanship, and other factors</a:t>
            </a:r>
          </a:p>
          <a:p>
            <a:pPr lvl="0"/>
            <a:r>
              <a:rPr/>
              <a:t>Among others, (Keshet 2020) shows effect of institutionl setup, rigidity, and acceptance.</a:t>
            </a:r>
          </a:p>
          <a:p>
            <a:pPr lvl="0"/>
            <a:r>
              <a:rPr/>
              <a:t>Strictness of the measure itself also relevant (Guimaraes et al. 2021)</a:t>
            </a:r>
          </a:p>
          <a:p>
            <a:pPr lvl="0"/>
            <a:r>
              <a:rPr/>
              <a:t>In highly political contexts, partisanship can override other factors (see e.g. Govind, Garg, and Carter 2024; Filsinger and Freitag 2024).</a:t>
            </a:r>
          </a:p>
          <a:p>
            <a:pPr lvl="0"/>
            <a:r>
              <a:rPr/>
              <a:t>Demographic factors sometimes also predictors. E.g. gender (see Zucoloto, Meneghini, and Martinez 2022); Age (Zu et al. 2021)</a:t>
            </a:r>
          </a:p>
          <a:p>
            <a:pPr lvl="1"/>
            <a:r>
              <a:rPr/>
              <a:t>But highly correlated with other factors (like risk perception, attitudes, etc.)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Gaps I</a:t>
            </a:r>
          </a:p>
          <a:p>
            <a:pPr lvl="0" indent="0" marL="0">
              <a:spcBef>
                <a:spcPts val="3000"/>
              </a:spcBef>
              <a:buNone/>
            </a:pPr>
            <a:r>
              <a:rPr b="1"/>
              <a:t>Peer group effects vs self-selection</a:t>
            </a:r>
          </a:p>
          <a:p>
            <a:pPr lvl="0"/>
            <a:r>
              <a:rPr/>
              <a:t>Unclear whether group/ network effects are driven by self-selection into groups</a:t>
            </a:r>
          </a:p>
          <a:p>
            <a:pPr lvl="0"/>
            <a:r>
              <a:rPr/>
              <a:t>Some descriptive insights from self-reported reasons for behaviour</a:t>
            </a:r>
          </a:p>
          <a:p>
            <a:pPr lvl="0"/>
            <a:r>
              <a:rPr/>
              <a:t>Evidence from influenza suggest </a:t>
            </a:r>
            <a:r>
              <a:rPr i="1"/>
              <a:t>pure</a:t>
            </a:r>
            <a:r>
              <a:rPr/>
              <a:t> peer effects in vaccination behaviour (Miyazato, Ibuka, and Itaya 2024)</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Gaps II</a:t>
            </a:r>
          </a:p>
          <a:p>
            <a:pPr lvl="0" indent="0" marL="0">
              <a:spcBef>
                <a:spcPts val="3000"/>
              </a:spcBef>
              <a:buNone/>
            </a:pPr>
            <a:r>
              <a:rPr b="1"/>
              <a:t>Is there a health vs income trade-off?</a:t>
            </a:r>
          </a:p>
          <a:p>
            <a:pPr lvl="0"/>
            <a:r>
              <a:rPr/>
              <a:t>Trade-off widely assumed but never causally confirmed and quantfied</a:t>
            </a:r>
          </a:p>
          <a:p>
            <a:pPr lvl="1"/>
            <a:r>
              <a:rPr/>
              <a:t>Influence of economic status &amp; health risk perception confirmed seperately</a:t>
            </a:r>
          </a:p>
          <a:p>
            <a:pPr lvl="1"/>
            <a:r>
              <a:rPr/>
              <a:t>Most studies on role of economic status done in HICs</a:t>
            </a:r>
          </a:p>
          <a:p>
            <a:pPr lvl="1"/>
            <a:r>
              <a:rPr/>
              <a:t>Not yet modelled together and isolated from other factors that might </a:t>
            </a:r>
            <a:r>
              <a:rPr i="1"/>
              <a:t>override</a:t>
            </a:r>
            <a:r>
              <a:rPr/>
              <a:t> trade-off</a:t>
            </a:r>
          </a:p>
          <a:p>
            <a:pPr lvl="1"/>
            <a:r>
              <a:rPr/>
              <a:t>Some WTP insights for vaccines (e.g. Catma and Varol 2021), but no quantification of impact of health risk perceptions </a:t>
            </a:r>
            <a:r>
              <a:rPr b="1"/>
              <a:t>relative to economic vulnerability</a:t>
            </a:r>
            <a:r>
              <a:rPr/>
              <a:t> and vice versa on NPI behaviour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Gaps III</a:t>
            </a:r>
          </a:p>
          <a:p>
            <a:pPr lvl="0" indent="0" marL="0">
              <a:spcBef>
                <a:spcPts val="3000"/>
              </a:spcBef>
              <a:buNone/>
            </a:pPr>
            <a:r>
              <a:rPr b="1"/>
              <a:t>Dynamic interactions</a:t>
            </a:r>
          </a:p>
          <a:p>
            <a:pPr lvl="0"/>
            <a:r>
              <a:rPr/>
              <a:t>Factors mostly modelled in isolation</a:t>
            </a:r>
          </a:p>
          <a:p>
            <a:pPr lvl="0"/>
            <a:r>
              <a:rPr/>
              <a:t>Crucial interactions sometimes assumed but never causally traced</a:t>
            </a:r>
          </a:p>
          <a:p>
            <a:pPr lvl="1"/>
            <a:r>
              <a:rPr/>
              <a:t>Eg interaction of risk perceptions vs economic vulnerability</a:t>
            </a:r>
          </a:p>
          <a:p>
            <a:pPr lvl="0"/>
            <a:r>
              <a:rPr/>
              <a:t>Limited application of hollistic frameworks in HICs</a:t>
            </a:r>
          </a:p>
          <a:p>
            <a:pPr lvl="1"/>
            <a:r>
              <a:rPr/>
              <a:t>EG Health belief model in USA (Badr et al. 2021), Theory of planned behaviour in France (Wollast et al. 2021)</a:t>
            </a:r>
          </a:p>
          <a:p>
            <a:pPr lvl="1"/>
            <a:r>
              <a:rPr/>
              <a:t>One study among students in Vietnam (Bui et al. 2023)</a:t>
            </a:r>
          </a:p>
          <a:p>
            <a:pPr lvl="1"/>
            <a:r>
              <a:rPr/>
              <a:t>Exclusively single country, single time-period studies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Aims &amp; research frameworks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74700"/>
                <a:gridCol w="4330700"/>
              </a:tblGrid>
              <a:tr h="0">
                <a:tc>
                  <a:txBody>
                    <a:bodyPr/>
                    <a:lstStyle/>
                    <a:p>
                      <a:pPr lvl="0" indent="0" marL="0">
                        <a:buNone/>
                      </a:pPr>
                      <a:r>
                        <a:rPr/>
                        <a:t>Chapter</a:t>
                      </a:r>
                    </a:p>
                  </a:txBody>
                  <a:tcPr/>
                </a:tc>
                <a:tc>
                  <a:txBody>
                    <a:bodyPr/>
                    <a:lstStyle/>
                    <a:p>
                      <a:pPr lvl="0" indent="0" marL="0">
                        <a:buNone/>
                      </a:pPr>
                      <a:r>
                        <a:rPr/>
                        <a:t>Research question</a:t>
                      </a:r>
                    </a:p>
                  </a:txBody>
                  <a:tcPr/>
                </a:tc>
              </a:tr>
              <a:tr h="0">
                <a:tc>
                  <a:txBody>
                    <a:bodyPr/>
                    <a:lstStyle/>
                    <a:p>
                      <a:pPr lvl="0" indent="0" marL="0">
                        <a:buNone/>
                      </a:pPr>
                      <a:r>
                        <a:rPr>
                          <a:latin typeface="Courier"/>
                        </a:rPr>
                        <a:t>1</a:t>
                      </a:r>
                    </a:p>
                  </a:txBody>
                </a:tc>
                <a:tc>
                  <a:txBody>
                    <a:bodyPr/>
                    <a:lstStyle/>
                    <a:p>
                      <a:pPr lvl="0" indent="0" marL="0">
                        <a:buNone/>
                      </a:pPr>
                      <a:r>
                        <a:rPr/>
                        <a:t>What are the mechanisms and interactions through which economic, socio-cultural, institutional, and psychological determinants shape individual compliance with public health measures during pandemics in LMICs?</a:t>
                      </a:r>
                    </a:p>
                  </a:txBody>
                </a:tc>
              </a:tr>
              <a:tr h="0">
                <a:tc>
                  <a:txBody>
                    <a:bodyPr/>
                    <a:lstStyle/>
                    <a:p>
                      <a:pPr lvl="0" indent="0" marL="0">
                        <a:buNone/>
                      </a:pPr>
                      <a:r>
                        <a:rPr>
                          <a:latin typeface="Courier"/>
                        </a:rPr>
                        <a:t>2</a:t>
                      </a:r>
                    </a:p>
                  </a:txBody>
                </a:tc>
                <a:tc>
                  <a:txBody>
                    <a:bodyPr/>
                    <a:lstStyle/>
                    <a:p>
                      <a:pPr lvl="0" indent="0" marL="0">
                        <a:buNone/>
                      </a:pPr>
                      <a:r>
                        <a:rPr/>
                        <a:t>What is the relative importance of economic constraints and health risk perceptions on compliance with public health measures?</a:t>
                      </a:r>
                    </a:p>
                  </a:txBody>
                </a:tc>
              </a:tr>
              <a:tr h="0">
                <a:tc>
                  <a:txBody>
                    <a:bodyPr/>
                    <a:lstStyle/>
                    <a:p>
                      <a:pPr lvl="0" indent="0" marL="0">
                        <a:buNone/>
                      </a:pPr>
                      <a:r>
                        <a:rPr>
                          <a:latin typeface="Courier"/>
                        </a:rPr>
                        <a:t>3</a:t>
                      </a:r>
                    </a:p>
                  </a:txBody>
                </a:tc>
                <a:tc>
                  <a:txBody>
                    <a:bodyPr/>
                    <a:lstStyle/>
                    <a:p>
                      <a:pPr lvl="0" indent="0" marL="0">
                        <a:buNone/>
                      </a:pPr>
                      <a:r>
                        <a:rPr/>
                        <a:t>What is the effect of membership in non self-selected peer groups on vaccination intentions?</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Chapter I: Informing a theory of pandemic behaviour</a:t>
            </a:r>
          </a:p>
        </p:txBody>
      </p:sp>
      <p:sp>
        <p:nvSpPr>
          <p:cNvPr id="3" name="Content Placeholder 2"/>
          <p:cNvSpPr>
            <a:spLocks noGrp="1"/>
          </p:cNvSpPr>
          <p:nvPr>
            <p:ph idx="1"/>
          </p:nvPr>
        </p:nvSpPr>
        <p:spPr/>
        <p:txBody>
          <a:bodyPr/>
          <a:lstStyle/>
          <a:p>
            <a:pPr lvl="0" indent="0" marL="0">
              <a:buNone/>
            </a:pPr>
            <a:r>
              <a:rPr/>
              <a:t>RQ: What are the mechanisms and interactions through which economic, socio-cultural, institutional, and psychological determinants shape individual compliance with public health measures during pandemics in LMICs?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Background &amp; Gaps I</a:t>
            </a:r>
          </a:p>
          <a:p>
            <a:pPr lvl="0" indent="0" marL="0">
              <a:spcBef>
                <a:spcPts val="3000"/>
              </a:spcBef>
              <a:buNone/>
            </a:pPr>
            <a:r>
              <a:rPr b="1"/>
              <a:t>Different factors interact and shape behaviour together</a:t>
            </a:r>
          </a:p>
          <a:p>
            <a:pPr lvl="0"/>
            <a:r>
              <a:rPr/>
              <a:t>Some studies use theoretical frameworks (Health Belief Model </a:t>
            </a:r>
            <a:r>
              <a:rPr>
                <a:latin typeface="Courier"/>
              </a:rPr>
              <a:t>OR</a:t>
            </a:r>
            <a:r>
              <a:rPr/>
              <a:t> Theory of Planned Behaviour) to analyse survey data</a:t>
            </a:r>
          </a:p>
          <a:p>
            <a:pPr lvl="0"/>
            <a:r>
              <a:rPr/>
              <a:t>Only (Bui et al. 2023) in LMIC (Looking at students in Vietnam)</a:t>
            </a:r>
          </a:p>
          <a:p>
            <a:pPr lvl="0"/>
            <a:r>
              <a:rPr/>
              <a:t>No paper integrating/ extending these in Covid 19 in LMIC</a:t>
            </a:r>
          </a:p>
          <a:p>
            <a:pPr lvl="0"/>
            <a:r>
              <a:rPr/>
              <a:t>No study comparing different geographical contexts</a:t>
            </a:r>
          </a:p>
          <a:p>
            <a:pPr lvl="0"/>
            <a:r>
              <a:rPr/>
              <a:t>No comparison of NPI and vaccines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Background &amp; Gaps II</a:t>
            </a:r>
          </a:p>
        </p:txBody>
      </p:sp>
      <p:pic>
        <p:nvPicPr>
          <p:cNvPr descr="media/Screenshot%202025-03-04%20at%2021.02.23.png" id="0" name="Picture 1"/>
          <p:cNvPicPr>
            <a:picLocks noGrp="1" noChangeAspect="1"/>
          </p:cNvPicPr>
          <p:nvPr/>
        </p:nvPicPr>
        <p:blipFill>
          <a:blip r:embed="rId2"/>
          <a:stretch>
            <a:fillRect/>
          </a:stretch>
        </p:blipFill>
        <p:spPr bwMode="auto">
          <a:xfrm>
            <a:off x="3568700" y="571500"/>
            <a:ext cx="5105400" cy="36576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a:t>
            </a:r>
          </a:p>
          <a:p>
            <a:pPr lvl="0" indent="0" marL="0">
              <a:spcBef>
                <a:spcPts val="3000"/>
              </a:spcBef>
              <a:buNone/>
            </a:pPr>
            <a:r>
              <a:rPr b="1"/>
              <a:t>MIT C19 preventative health survey</a:t>
            </a:r>
          </a:p>
          <a:p>
            <a:pPr lvl="0"/>
            <a:r>
              <a:rPr/>
              <a:t>Conducted via online surveys distributed to Facebook users globally</a:t>
            </a:r>
          </a:p>
          <a:p>
            <a:pPr lvl="0"/>
            <a:r>
              <a:rPr/>
              <a:t>Over 100k observations across 78 countries</a:t>
            </a:r>
          </a:p>
          <a:p>
            <a:pPr lvl="0"/>
            <a:r>
              <a:rPr/>
              <a:t>Weighted to account for probability of being FB user</a:t>
            </a:r>
          </a:p>
          <a:p>
            <a:pPr lvl="0"/>
            <a:r>
              <a:rPr/>
              <a:t>Contains data on all aforementioned factors</a:t>
            </a:r>
          </a:p>
          <a:p>
            <a:pPr lvl="0"/>
            <a:r>
              <a:rPr/>
              <a:t>Repeated cross sectional survey</a:t>
            </a:r>
          </a:p>
          <a:p>
            <a:pPr lvl="0"/>
            <a:r>
              <a:rPr/>
              <a:t>Requesred &amp; granted. Currently correspondence between LSE Datalibrary and MIT.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I</a:t>
            </a:r>
          </a:p>
          <a:p>
            <a:pPr lvl="0" indent="0" marL="0">
              <a:spcBef>
                <a:spcPts val="3000"/>
              </a:spcBef>
              <a:buNone/>
            </a:pPr>
            <a:r>
              <a:rPr b="1"/>
              <a:t>Approach</a:t>
            </a:r>
          </a:p>
          <a:p>
            <a:pPr lvl="0"/>
            <a:r>
              <a:rPr/>
              <a:t>Structural equation modelling to uncover latent and observed pathways</a:t>
            </a:r>
          </a:p>
          <a:p>
            <a:pPr lvl="1"/>
            <a:r>
              <a:rPr/>
              <a:t>Explicitly models causal pathways and feedback loops</a:t>
            </a:r>
          </a:p>
          <a:p>
            <a:pPr lvl="1"/>
            <a:r>
              <a:rPr/>
              <a:t>Estimated using system modelling like maximum likelihood, Generalized least squares, Bayesian estimation</a:t>
            </a:r>
          </a:p>
          <a:p>
            <a:pPr lvl="0"/>
            <a:r>
              <a:rPr/>
              <a:t>Examples of application are</a:t>
            </a:r>
          </a:p>
          <a:p>
            <a:pPr lvl="1"/>
            <a:r>
              <a:rPr/>
              <a:t>Newton et al. (2024) modelling Health outcomes as a function of social determinagts of health in UK.</a:t>
            </a:r>
          </a:p>
          <a:p>
            <a:pPr lvl="1"/>
            <a:r>
              <a:rPr/>
              <a:t>Li et al. (2020) modelling dementia care ability as a function of health literacy and social support in China</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II</a:t>
            </a:r>
          </a:p>
          <a:p>
            <a:pPr lvl="0" indent="0" marL="0">
              <a:spcBef>
                <a:spcPts val="3000"/>
              </a:spcBef>
              <a:buNone/>
            </a:pPr>
            <a:r>
              <a:rPr b="1"/>
              <a:t>Approach</a:t>
            </a:r>
          </a:p>
          <a:p>
            <a:pPr lvl="0"/>
            <a:r>
              <a:rPr/>
              <a:t>Structural equation modelling to uncover latent and observed pathways</a:t>
            </a:r>
          </a:p>
          <a:p>
            <a:pPr lvl="1"/>
            <a:r>
              <a:rPr/>
              <a:t>Allows simultaneous estimation of direct and indirect effects in predicting preventive behavior</a:t>
            </a:r>
          </a:p>
          <a:p>
            <a:pPr lvl="0"/>
            <a:r>
              <a:rPr/>
              <a:t>Direct, indirect, and total effects analysed for all models</a:t>
            </a:r>
          </a:p>
          <a:p>
            <a:pPr lvl="0"/>
            <a:r>
              <a:rPr/>
              <a:t>Conduct at different waves for robustness checks and comparison</a:t>
            </a:r>
          </a:p>
          <a:p>
            <a:pPr lvl="1"/>
            <a:r>
              <a:rPr/>
              <a:t>Evaluation of goodness of fit between HBM, TPB, extended and integrated version using AIC/BIC</a:t>
            </a:r>
          </a:p>
          <a:p>
            <a:pPr lvl="1"/>
            <a:r>
              <a:rPr/>
              <a:t>Evaluation of overfitting via multi-round application of estimated parameters and assesment of goodnes of fit variation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Expected Contributions</a:t>
            </a:r>
          </a:p>
          <a:p>
            <a:pPr lvl="0" indent="0" marL="0">
              <a:spcBef>
                <a:spcPts val="3000"/>
              </a:spcBef>
              <a:buNone/>
            </a:pPr>
            <a:r>
              <a:rPr b="1"/>
              <a:t>Emprical contribution</a:t>
            </a:r>
          </a:p>
          <a:p>
            <a:pPr lvl="0"/>
            <a:r>
              <a:rPr/>
              <a:t>First large scale SEM across countries and waves</a:t>
            </a:r>
          </a:p>
          <a:p>
            <a:pPr lvl="0"/>
            <a:r>
              <a:rPr/>
              <a:t>Qunatification of uncertainity and relative importance of factors</a:t>
            </a:r>
          </a:p>
          <a:p>
            <a:pPr lvl="0" indent="0" marL="0">
              <a:spcBef>
                <a:spcPts val="3000"/>
              </a:spcBef>
              <a:buNone/>
            </a:pPr>
            <a:r>
              <a:rPr b="1"/>
              <a:t>Theoretical Contribution</a:t>
            </a:r>
          </a:p>
          <a:p>
            <a:pPr lvl="0"/>
            <a:r>
              <a:rPr/>
              <a:t>Informing more comprehensive framework of pandemic behaviour</a:t>
            </a:r>
          </a:p>
          <a:p>
            <a:pPr lvl="0"/>
            <a:r>
              <a:rPr/>
              <a:t>Introducing nuance around different intervention types (NPIs vs vaccine)</a:t>
            </a:r>
          </a:p>
          <a:p>
            <a:pPr lvl="0" indent="0" marL="0">
              <a:spcBef>
                <a:spcPts val="3000"/>
              </a:spcBef>
              <a:buNone/>
            </a:pPr>
            <a:r>
              <a:rPr b="1"/>
              <a:t>Policy relevance</a:t>
            </a:r>
          </a:p>
          <a:p>
            <a:pPr lvl="0"/>
            <a:r>
              <a:rPr/>
              <a:t>Informs more efficient data collections during early phases of emergencies</a:t>
            </a:r>
          </a:p>
          <a:p>
            <a:pPr lvl="0"/>
            <a:r>
              <a:rPr/>
              <a:t>Informs ressource allocation efficiency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Chapter II: Qunatifying the health-income trade-off assumption</a:t>
            </a:r>
          </a:p>
        </p:txBody>
      </p:sp>
      <p:sp>
        <p:nvSpPr>
          <p:cNvPr id="3" name="Content Placeholder 2"/>
          <p:cNvSpPr>
            <a:spLocks noGrp="1"/>
          </p:cNvSpPr>
          <p:nvPr>
            <p:ph idx="1"/>
          </p:nvPr>
        </p:nvSpPr>
        <p:spPr/>
        <p:txBody>
          <a:bodyPr/>
          <a:lstStyle/>
          <a:p>
            <a:pPr lvl="0" indent="0" marL="0">
              <a:buNone/>
            </a:pPr>
            <a:r>
              <a:rPr/>
              <a:t>RQ: What is the relative importance of economic constraints and health risk perceptions on compliance with public health measures?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Background &amp; Gaps</a:t>
            </a:r>
          </a:p>
          <a:p>
            <a:pPr lvl="0" indent="0" marL="0">
              <a:spcBef>
                <a:spcPts val="3000"/>
              </a:spcBef>
              <a:buNone/>
            </a:pPr>
            <a:r>
              <a:rPr b="1"/>
              <a:t>Widely assumed trade-off between income an health that </a:t>
            </a:r>
            <a:r>
              <a:rPr b="1">
                <a:latin typeface="Courier"/>
              </a:rPr>
              <a:t>individuals</a:t>
            </a:r>
            <a:r>
              <a:rPr b="1"/>
              <a:t> face</a:t>
            </a:r>
          </a:p>
          <a:p>
            <a:pPr lvl="0"/>
            <a:r>
              <a:rPr/>
              <a:t>Rationale behind cash transfer programmes</a:t>
            </a:r>
          </a:p>
          <a:p>
            <a:pPr lvl="0"/>
            <a:r>
              <a:rPr/>
              <a:t>Supported by economic theory (Grossman 1972); Prospect Theory</a:t>
            </a:r>
          </a:p>
          <a:p>
            <a:pPr lvl="0"/>
            <a:r>
              <a:rPr/>
              <a:t>Empirical eveidence shows</a:t>
            </a:r>
          </a:p>
          <a:p>
            <a:pPr lvl="1"/>
            <a:r>
              <a:rPr/>
              <a:t>Effects of income (e.g. Stevens et al. 2021)</a:t>
            </a:r>
          </a:p>
          <a:p>
            <a:pPr lvl="1"/>
            <a:r>
              <a:rPr/>
              <a:t>Effects of risk perceptions (e.g. Bazrafshan et al. 2023)</a:t>
            </a:r>
          </a:p>
          <a:p>
            <a:pPr lvl="0"/>
            <a:r>
              <a:rPr/>
              <a:t>Income and risk perception never modelled together to confirm </a:t>
            </a:r>
            <a:r>
              <a:rPr>
                <a:latin typeface="Courier"/>
              </a:rPr>
              <a:t>trade-off</a:t>
            </a:r>
            <a:r>
              <a:rPr/>
              <a:t> in causal way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Hypotheses</a:t>
            </a:r>
          </a:p>
          <a:p>
            <a:pPr lvl="0" indent="0" marL="0">
              <a:spcBef>
                <a:spcPts val="3000"/>
              </a:spcBef>
              <a:buNone/>
            </a:pPr>
            <a:r>
              <a:rPr b="1"/>
              <a:t>H1(2): Economic vulnerability (health risk perceptions) predict compliance.</a:t>
            </a:r>
          </a:p>
          <a:p>
            <a:pPr lvl="0" indent="0" marL="0">
              <a:spcBef>
                <a:spcPts val="3000"/>
              </a:spcBef>
              <a:buNone/>
            </a:pPr>
            <a:r>
              <a:rPr b="1"/>
              <a:t>H3: Individuals face a trade-off between preserving their health and their economic security.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a:t>
            </a:r>
          </a:p>
          <a:p>
            <a:pPr lvl="0" indent="0" marL="0">
              <a:spcBef>
                <a:spcPts val="3000"/>
              </a:spcBef>
              <a:buNone/>
            </a:pPr>
            <a:r>
              <a:rPr b="1"/>
              <a:t>World Bank Malawi high frequency phone survey between 2020 and 2024</a:t>
            </a:r>
          </a:p>
          <a:p>
            <a:pPr lvl="0"/>
            <a:r>
              <a:rPr/>
              <a:t>Subset: 05/20-07/21</a:t>
            </a:r>
          </a:p>
          <a:p>
            <a:pPr lvl="1"/>
            <a:r>
              <a:rPr/>
              <a:t>Only the first 13 rounds contain information about non-pharmaceutical mitigation behaviour</a:t>
            </a:r>
          </a:p>
          <a:p>
            <a:pPr lvl="0"/>
            <a:r>
              <a:rPr/>
              <a:t>Nationally representative sample of households based on the Malawi National Integrated Household Panel Survey from 2019</a:t>
            </a:r>
          </a:p>
          <a:p>
            <a:pPr lvl="0"/>
            <a:r>
              <a:rPr/>
              <a:t>1729 participants at baseline &amp; 8% attrition at R13</a:t>
            </a:r>
          </a:p>
          <a:p>
            <a:pPr lvl="0"/>
            <a:r>
              <a:rPr/>
              <a:t>Further weighting based on census data</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Double Debiased Machine Learning I</a:t>
            </a:r>
          </a:p>
          <a:p>
            <a:pPr lvl="0"/>
            <a:r>
              <a:rPr/>
              <a:t>Traditional econometric approaches</a:t>
            </a:r>
          </a:p>
          <a:p>
            <a:pPr lvl="1"/>
            <a:r>
              <a:rPr/>
              <a:t>Identification of pure effect requires isolation from confounding</a:t>
            </a:r>
          </a:p>
          <a:p>
            <a:pPr lvl="2"/>
            <a:r>
              <a:rPr/>
              <a:t>Including limited confounding information -&gt; endogeneity concerns</a:t>
            </a:r>
          </a:p>
          <a:p>
            <a:pPr lvl="2"/>
            <a:r>
              <a:rPr/>
              <a:t>Including a lot of controls -&gt; modelling challenges due to complex functional forms (eg colinearity, non-linearity, etc.) (Belloni et al. 2017)</a:t>
            </a:r>
          </a:p>
          <a:p>
            <a:pPr lvl="0"/>
            <a:r>
              <a:rPr/>
              <a:t>Machine Learning</a:t>
            </a:r>
          </a:p>
          <a:p>
            <a:pPr lvl="1"/>
            <a:r>
              <a:rPr/>
              <a:t>Can handle complex functional forms and data patterns (eg many non-linear controls, colinearity) for predicting outcomes.</a:t>
            </a:r>
          </a:p>
          <a:p>
            <a:pPr lvl="1"/>
            <a:r>
              <a:rPr/>
              <a:t>Delineating different factor’s distinct influence challenging.</a:t>
            </a:r>
          </a:p>
          <a:p>
            <a:pPr lvl="1"/>
            <a:r>
              <a:rPr/>
              <a:t>Estimates difficult to interpret due to (often) non-tracable data trahsformations.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Double Debiased Machine Learning II</a:t>
            </a:r>
          </a:p>
          <a:p>
            <a:pPr lvl="0" indent="0" marL="0">
              <a:spcBef>
                <a:spcPts val="3000"/>
              </a:spcBef>
              <a:buNone/>
            </a:pPr>
            <a:r>
              <a:rPr b="1"/>
              <a:t>Combining the benefits of both approaches</a:t>
            </a:r>
          </a:p>
          <a:p>
            <a:pPr lvl="0"/>
            <a:r>
              <a:rPr/>
              <a:t>Proposed by Chernozhukov et al. (2018)</a:t>
            </a:r>
          </a:p>
          <a:p>
            <a:pPr lvl="0"/>
            <a:r>
              <a:rPr/>
              <a:t>Predict behaviour &amp; treatment separately given vector of covariates using ML methods</a:t>
            </a:r>
          </a:p>
          <a:p>
            <a:pPr lvl="0"/>
            <a:r>
              <a:rPr/>
              <a:t>Regress residuals of predicted outcome (i.e. the variation in outcome unexplained by covariates) on residuals of predicted treatment (ie the variation in treatment not explained by covariates)</a:t>
            </a:r>
          </a:p>
          <a:p>
            <a:pPr lvl="1"/>
            <a:r>
              <a:rPr/>
              <a:t>Estimate = Causal effect of treatment on outcome</a:t>
            </a:r>
          </a:p>
          <a:p>
            <a:pPr lvl="1"/>
            <a:r>
              <a:rPr/>
              <a:t>Based orthogonalization proposed by Neyman and Scott (1948)</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Expected Contributions</a:t>
            </a:r>
          </a:p>
          <a:p>
            <a:pPr lvl="0" indent="0" marL="0">
              <a:spcBef>
                <a:spcPts val="3000"/>
              </a:spcBef>
              <a:buNone/>
            </a:pPr>
            <a:r>
              <a:rPr b="1"/>
              <a:t>Emprical contribution</a:t>
            </a:r>
          </a:p>
          <a:p>
            <a:pPr lvl="0"/>
            <a:r>
              <a:rPr/>
              <a:t>First causal investigation into health/income trade-off in context of protective measures during a pandemic</a:t>
            </a:r>
          </a:p>
          <a:p>
            <a:pPr lvl="0"/>
            <a:r>
              <a:rPr/>
              <a:t>Qunatification of trade-off and comparison over time</a:t>
            </a:r>
          </a:p>
          <a:p>
            <a:pPr lvl="0" indent="0" marL="0">
              <a:spcBef>
                <a:spcPts val="3000"/>
              </a:spcBef>
              <a:buNone/>
            </a:pPr>
            <a:r>
              <a:rPr b="1"/>
              <a:t>Theoretical Contribution</a:t>
            </a:r>
          </a:p>
          <a:p>
            <a:pPr lvl="0"/>
            <a:r>
              <a:rPr/>
              <a:t>Empirical test of widely-assumed trade-off assumption</a:t>
            </a:r>
          </a:p>
          <a:p>
            <a:pPr lvl="0" indent="0" marL="0">
              <a:spcBef>
                <a:spcPts val="3000"/>
              </a:spcBef>
              <a:buNone/>
            </a:pPr>
            <a:r>
              <a:rPr b="1"/>
              <a:t>Policy relevance</a:t>
            </a:r>
          </a:p>
          <a:p>
            <a:pPr lvl="0"/>
            <a:r>
              <a:rPr/>
              <a:t>Informs more efficient data collections during early phases of emergencies</a:t>
            </a:r>
          </a:p>
          <a:p>
            <a:pPr lvl="0"/>
            <a:r>
              <a:rPr/>
              <a:t>Informs ressource allocation efficiency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Chapter: The role of peer effects on vaccination intentions</a:t>
            </a:r>
          </a:p>
        </p:txBody>
      </p:sp>
      <p:sp>
        <p:nvSpPr>
          <p:cNvPr id="3" name="Content Placeholder 2"/>
          <p:cNvSpPr>
            <a:spLocks noGrp="1"/>
          </p:cNvSpPr>
          <p:nvPr>
            <p:ph idx="1"/>
          </p:nvPr>
        </p:nvSpPr>
        <p:spPr/>
        <p:txBody>
          <a:bodyPr/>
          <a:lstStyle/>
          <a:p>
            <a:pPr lvl="0" indent="0" marL="0">
              <a:buNone/>
            </a:pPr>
            <a:r>
              <a:rPr/>
              <a:t>RQ: What is the effect of membership in non self-selected peer groups on vaccination intentions?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Background &amp; Gaps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Expected Contributions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Emprical contribution</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Theoretical Contribution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Policy relevance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&amp; Feedback</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Literature search strategy II: Search string</a:t>
            </a:r>
          </a:p>
          <a:p>
            <a:pPr lvl="0" indent="0">
              <a:buNone/>
            </a:pPr>
            <a:r>
              <a:rPr>
                <a:latin typeface="Courier"/>
              </a:rPr>
              <a:t>TITLE</a:t>
            </a:r>
            <a:r>
              <a:rPr>
                <a:solidFill>
                  <a:srgbClr val="666666"/>
                </a:solidFill>
                <a:latin typeface="Courier"/>
              </a:rPr>
              <a:t>-</a:t>
            </a:r>
            <a:r>
              <a:rPr>
                <a:latin typeface="Courier"/>
              </a:rPr>
              <a:t>ABS</a:t>
            </a:r>
            <a:r>
              <a:rPr>
                <a:solidFill>
                  <a:srgbClr val="666666"/>
                </a:solidFill>
                <a:latin typeface="Courier"/>
              </a:rPr>
              <a:t>-</a:t>
            </a:r>
            <a:r>
              <a:rPr>
                <a:latin typeface="Courier"/>
              </a:rPr>
              <a:t>KEY(</a:t>
            </a:r>
            <a:br/>
            <a:r>
              <a:rPr>
                <a:latin typeface="Courier"/>
              </a:rPr>
              <a:t>  (pandemic</a:t>
            </a:r>
            <a:r>
              <a:rPr>
                <a:solidFill>
                  <a:srgbClr val="666666"/>
                </a:solidFill>
                <a:latin typeface="Courier"/>
              </a:rPr>
              <a:t>*</a:t>
            </a:r>
            <a:r>
              <a:rPr>
                <a:latin typeface="Courier"/>
              </a:rPr>
              <a:t> OR epidemic</a:t>
            </a:r>
            <a:r>
              <a:rPr>
                <a:solidFill>
                  <a:srgbClr val="666666"/>
                </a:solidFill>
                <a:latin typeface="Courier"/>
              </a:rPr>
              <a:t>*</a:t>
            </a:r>
            <a:r>
              <a:rPr>
                <a:latin typeface="Courier"/>
              </a:rPr>
              <a:t> OR outbreak</a:t>
            </a:r>
            <a:r>
              <a:rPr>
                <a:solidFill>
                  <a:srgbClr val="666666"/>
                </a:solidFill>
                <a:latin typeface="Courier"/>
              </a:rPr>
              <a:t>*</a:t>
            </a:r>
            <a:r>
              <a:rPr>
                <a:latin typeface="Courier"/>
              </a:rPr>
              <a:t> OR </a:t>
            </a:r>
            <a:r>
              <a:rPr>
                <a:solidFill>
                  <a:srgbClr val="4070A0"/>
                </a:solidFill>
                <a:latin typeface="Courier"/>
              </a:rPr>
              <a:t>"public health crisis*"</a:t>
            </a:r>
            <a:r>
              <a:rPr>
                <a:latin typeface="Courier"/>
              </a:rPr>
              <a:t>)</a:t>
            </a:r>
            <a:br/>
            <a:r>
              <a:rPr>
                <a:latin typeface="Courier"/>
              </a:rPr>
              <a:t>  AND</a:t>
            </a:r>
            <a:br/>
            <a:r>
              <a:rPr>
                <a:latin typeface="Courier"/>
              </a:rPr>
              <a:t>  (behavio</a:t>
            </a:r>
            <a:r>
              <a:rPr>
                <a:solidFill>
                  <a:srgbClr val="666666"/>
                </a:solidFill>
                <a:latin typeface="Courier"/>
              </a:rPr>
              <a:t>*</a:t>
            </a:r>
            <a:r>
              <a:rPr>
                <a:latin typeface="Courier"/>
              </a:rPr>
              <a:t>r OR compliance OR adherence OR </a:t>
            </a:r>
            <a:r>
              <a:rPr>
                <a:solidFill>
                  <a:srgbClr val="4070A0"/>
                </a:solidFill>
                <a:latin typeface="Courier"/>
              </a:rPr>
              <a:t>"preventiv* measures"</a:t>
            </a:r>
            <a:r>
              <a:rPr>
                <a:latin typeface="Courier"/>
              </a:rPr>
              <a:t> OR </a:t>
            </a:r>
            <a:r>
              <a:rPr>
                <a:solidFill>
                  <a:srgbClr val="4070A0"/>
                </a:solidFill>
                <a:latin typeface="Courier"/>
              </a:rPr>
              <a:t>"protective measures"</a:t>
            </a:r>
            <a:r>
              <a:rPr>
                <a:latin typeface="Courier"/>
              </a:rPr>
              <a:t> OR mitigation OR </a:t>
            </a:r>
            <a:r>
              <a:rPr>
                <a:solidFill>
                  <a:srgbClr val="4070A0"/>
                </a:solidFill>
                <a:latin typeface="Courier"/>
              </a:rPr>
              <a:t>"health response*"</a:t>
            </a:r>
            <a:r>
              <a:rPr>
                <a:latin typeface="Courier"/>
              </a:rPr>
              <a:t> </a:t>
            </a:r>
            <a:br/>
            <a:r>
              <a:rPr>
                <a:latin typeface="Courier"/>
              </a:rPr>
              <a:t>    OR lockdown</a:t>
            </a:r>
            <a:r>
              <a:rPr>
                <a:solidFill>
                  <a:srgbClr val="666666"/>
                </a:solidFill>
                <a:latin typeface="Courier"/>
              </a:rPr>
              <a:t>*</a:t>
            </a:r>
            <a:r>
              <a:rPr>
                <a:latin typeface="Courier"/>
              </a:rPr>
              <a:t> OR </a:t>
            </a:r>
            <a:r>
              <a:rPr>
                <a:solidFill>
                  <a:srgbClr val="4070A0"/>
                </a:solidFill>
                <a:latin typeface="Courier"/>
              </a:rPr>
              <a:t>"stay at home"</a:t>
            </a:r>
            <a:r>
              <a:rPr>
                <a:latin typeface="Courier"/>
              </a:rPr>
              <a:t> OR </a:t>
            </a:r>
            <a:r>
              <a:rPr>
                <a:solidFill>
                  <a:srgbClr val="4070A0"/>
                </a:solidFill>
                <a:latin typeface="Courier"/>
              </a:rPr>
              <a:t>"social distan*"</a:t>
            </a:r>
            <a:r>
              <a:rPr>
                <a:latin typeface="Courier"/>
              </a:rPr>
              <a:t> OR quarantine OR </a:t>
            </a:r>
            <a:r>
              <a:rPr>
                <a:solidFill>
                  <a:srgbClr val="4070A0"/>
                </a:solidFill>
                <a:latin typeface="Courier"/>
              </a:rPr>
              <a:t>"mask* use"</a:t>
            </a:r>
            <a:r>
              <a:rPr>
                <a:latin typeface="Courier"/>
              </a:rPr>
              <a:t> OR </a:t>
            </a:r>
            <a:r>
              <a:rPr>
                <a:solidFill>
                  <a:srgbClr val="4070A0"/>
                </a:solidFill>
                <a:latin typeface="Courier"/>
              </a:rPr>
              <a:t>"mask wearing"</a:t>
            </a:r>
            <a:r>
              <a:rPr>
                <a:latin typeface="Courier"/>
              </a:rPr>
              <a:t> OR hygiene OR </a:t>
            </a:r>
            <a:r>
              <a:rPr>
                <a:solidFill>
                  <a:srgbClr val="4070A0"/>
                </a:solidFill>
                <a:latin typeface="Courier"/>
              </a:rPr>
              <a:t>"hand wash*"</a:t>
            </a:r>
            <a:r>
              <a:rPr>
                <a:latin typeface="Courier"/>
              </a:rPr>
              <a:t> </a:t>
            </a:r>
            <a:br/>
            <a:r>
              <a:rPr>
                <a:latin typeface="Courier"/>
              </a:rPr>
              <a:t>    OR </a:t>
            </a:r>
            <a:r>
              <a:rPr>
                <a:solidFill>
                  <a:srgbClr val="4070A0"/>
                </a:solidFill>
                <a:latin typeface="Courier"/>
              </a:rPr>
              <a:t>"vaccine acceptance"</a:t>
            </a:r>
            <a:r>
              <a:rPr>
                <a:latin typeface="Courier"/>
              </a:rPr>
              <a:t> OR </a:t>
            </a:r>
            <a:r>
              <a:rPr>
                <a:solidFill>
                  <a:srgbClr val="4070A0"/>
                </a:solidFill>
                <a:latin typeface="Courier"/>
              </a:rPr>
              <a:t>"vaccination intent*"</a:t>
            </a:r>
            <a:r>
              <a:rPr>
                <a:latin typeface="Courier"/>
              </a:rPr>
              <a:t> OR </a:t>
            </a:r>
            <a:r>
              <a:rPr>
                <a:solidFill>
                  <a:srgbClr val="4070A0"/>
                </a:solidFill>
                <a:latin typeface="Courier"/>
              </a:rPr>
              <a:t>"testing uptake"</a:t>
            </a:r>
            <a:r>
              <a:rPr>
                <a:latin typeface="Courier"/>
              </a:rPr>
              <a:t> OR </a:t>
            </a:r>
            <a:r>
              <a:rPr>
                <a:solidFill>
                  <a:srgbClr val="4070A0"/>
                </a:solidFill>
                <a:latin typeface="Courier"/>
              </a:rPr>
              <a:t>"contact tracing"</a:t>
            </a:r>
            <a:r>
              <a:rPr>
                <a:latin typeface="Courier"/>
              </a:rPr>
              <a:t> OR </a:t>
            </a:r>
            <a:r>
              <a:rPr>
                <a:solidFill>
                  <a:srgbClr val="4070A0"/>
                </a:solidFill>
                <a:latin typeface="Courier"/>
              </a:rPr>
              <a:t>"physical distancing"</a:t>
            </a:r>
            <a:r>
              <a:rPr>
                <a:latin typeface="Courier"/>
              </a:rPr>
              <a:t> OR </a:t>
            </a:r>
            <a:r>
              <a:rPr>
                <a:solidFill>
                  <a:srgbClr val="4070A0"/>
                </a:solidFill>
                <a:latin typeface="Courier"/>
              </a:rPr>
              <a:t>"non-pharmaceutical intervention*"</a:t>
            </a:r>
            <a:r>
              <a:rPr>
                <a:latin typeface="Courier"/>
              </a:rPr>
              <a:t>)</a:t>
            </a:r>
            <a:br/>
            <a:r>
              <a:rPr>
                <a:latin typeface="Courier"/>
              </a:rPr>
              <a:t>)</a:t>
            </a:r>
            <a:br/>
            <a:r>
              <a:rPr>
                <a:latin typeface="Courier"/>
              </a:rPr>
              <a:t>AND</a:t>
            </a:r>
            <a:br/>
            <a:r>
              <a:rPr>
                <a:latin typeface="Courier"/>
              </a:rPr>
              <a:t>TITLE</a:t>
            </a:r>
            <a:r>
              <a:rPr>
                <a:solidFill>
                  <a:srgbClr val="666666"/>
                </a:solidFill>
                <a:latin typeface="Courier"/>
              </a:rPr>
              <a:t>-</a:t>
            </a:r>
            <a:r>
              <a:rPr>
                <a:latin typeface="Courier"/>
              </a:rPr>
              <a:t>ABS</a:t>
            </a:r>
            <a:r>
              <a:rPr>
                <a:solidFill>
                  <a:srgbClr val="666666"/>
                </a:solidFill>
                <a:latin typeface="Courier"/>
              </a:rPr>
              <a:t>-</a:t>
            </a:r>
            <a:r>
              <a:rPr>
                <a:latin typeface="Courier"/>
              </a:rPr>
              <a:t>KEY(</a:t>
            </a:r>
            <a:br/>
            <a:r>
              <a:rPr>
                <a:latin typeface="Courier"/>
              </a:rPr>
              <a:t>  (determinant</a:t>
            </a:r>
            <a:r>
              <a:rPr>
                <a:solidFill>
                  <a:srgbClr val="666666"/>
                </a:solidFill>
                <a:latin typeface="Courier"/>
              </a:rPr>
              <a:t>*</a:t>
            </a:r>
            <a:r>
              <a:rPr>
                <a:latin typeface="Courier"/>
              </a:rPr>
              <a:t> OR predictor</a:t>
            </a:r>
            <a:r>
              <a:rPr>
                <a:solidFill>
                  <a:srgbClr val="666666"/>
                </a:solidFill>
                <a:latin typeface="Courier"/>
              </a:rPr>
              <a:t>*</a:t>
            </a:r>
            <a:r>
              <a:rPr>
                <a:latin typeface="Courier"/>
              </a:rPr>
              <a:t> OR factor</a:t>
            </a:r>
            <a:r>
              <a:rPr>
                <a:solidFill>
                  <a:srgbClr val="666666"/>
                </a:solidFill>
                <a:latin typeface="Courier"/>
              </a:rPr>
              <a:t>*</a:t>
            </a:r>
            <a:r>
              <a:rPr>
                <a:latin typeface="Courier"/>
              </a:rPr>
              <a:t> OR driver</a:t>
            </a:r>
            <a:r>
              <a:rPr>
                <a:solidFill>
                  <a:srgbClr val="666666"/>
                </a:solidFill>
                <a:latin typeface="Courier"/>
              </a:rPr>
              <a:t>*</a:t>
            </a:r>
            <a:r>
              <a:rPr>
                <a:latin typeface="Courier"/>
              </a:rPr>
              <a:t> OR influenc</a:t>
            </a:r>
            <a:r>
              <a:rPr>
                <a:solidFill>
                  <a:srgbClr val="666666"/>
                </a:solidFill>
                <a:latin typeface="Courier"/>
              </a:rPr>
              <a:t>*</a:t>
            </a:r>
            <a:r>
              <a:rPr>
                <a:latin typeface="Courier"/>
              </a:rPr>
              <a:t>)</a:t>
            </a:r>
            <a:br/>
            <a:r>
              <a:rPr>
                <a:latin typeface="Courier"/>
              </a:rPr>
              <a:t>  AND</a:t>
            </a:r>
            <a:br/>
            <a:r>
              <a:rPr>
                <a:latin typeface="Courier"/>
              </a:rPr>
              <a:t>  (economic OR </a:t>
            </a:r>
            <a:r>
              <a:rPr>
                <a:solidFill>
                  <a:srgbClr val="4070A0"/>
                </a:solidFill>
                <a:latin typeface="Courier"/>
              </a:rPr>
              <a:t>"socio-cultural"</a:t>
            </a:r>
            <a:r>
              <a:rPr>
                <a:latin typeface="Courier"/>
              </a:rPr>
              <a:t> OR social OR institutional OR psychological OR </a:t>
            </a:r>
            <a:r>
              <a:rPr>
                <a:solidFill>
                  <a:srgbClr val="4070A0"/>
                </a:solidFill>
                <a:latin typeface="Courier"/>
              </a:rPr>
              <a:t>"risk perception*"</a:t>
            </a:r>
            <a:r>
              <a:rPr>
                <a:latin typeface="Courier"/>
              </a:rPr>
              <a:t> OR cognitive OR affective OR normative </a:t>
            </a:r>
            <a:br/>
            <a:r>
              <a:rPr>
                <a:latin typeface="Courier"/>
              </a:rPr>
              <a:t>    OR </a:t>
            </a:r>
            <a:r>
              <a:rPr>
                <a:solidFill>
                  <a:srgbClr val="4070A0"/>
                </a:solidFill>
                <a:latin typeface="Courier"/>
              </a:rPr>
              <a:t>"peer effect*"</a:t>
            </a:r>
            <a:r>
              <a:rPr>
                <a:latin typeface="Courier"/>
              </a:rPr>
              <a:t> OR </a:t>
            </a:r>
            <a:r>
              <a:rPr>
                <a:solidFill>
                  <a:srgbClr val="4070A0"/>
                </a:solidFill>
                <a:latin typeface="Courier"/>
              </a:rPr>
              <a:t>"media influence*"</a:t>
            </a:r>
            <a:r>
              <a:rPr>
                <a:latin typeface="Courier"/>
              </a:rPr>
              <a:t> OR politic</a:t>
            </a:r>
            <a:r>
              <a:rPr>
                <a:solidFill>
                  <a:srgbClr val="666666"/>
                </a:solidFill>
                <a:latin typeface="Courier"/>
              </a:rPr>
              <a:t>*</a:t>
            </a:r>
            <a:r>
              <a:rPr>
                <a:latin typeface="Courier"/>
              </a:rPr>
              <a:t> OR demographic</a:t>
            </a:r>
            <a:r>
              <a:rPr>
                <a:solidFill>
                  <a:srgbClr val="666666"/>
                </a:solidFill>
                <a:latin typeface="Courier"/>
              </a:rPr>
              <a:t>*</a:t>
            </a:r>
            <a:r>
              <a:rPr>
                <a:latin typeface="Courier"/>
              </a:rPr>
              <a:t> OR cultural OR structural OR contextual)</a:t>
            </a:r>
            <a:br/>
            <a:r>
              <a:rPr>
                <a:latin typeface="Courier"/>
              </a:rPr>
              <a: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Annex I: Chapter I</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Structural Equation Modelling II (Skip)</a:t>
            </a:r>
          </a:p>
          <a:p>
            <a:pPr lvl="0" indent="0" marL="0">
              <a:spcBef>
                <a:spcPts val="3000"/>
              </a:spcBef>
              <a:buNone/>
            </a:pPr>
            <a:r>
              <a:rPr b="1"/>
              <a:t>Confirmatory Factor Analysis (CFA)</a:t>
            </a:r>
          </a:p>
          <a:p>
            <a:pPr lvl="0"/>
            <a:r>
              <a:rPr/>
              <a:t>To validate latent constructs</a:t>
            </a:r>
          </a:p>
          <a:p>
            <a:pPr lvl="0"/>
            <a:r>
              <a:rPr/>
              <a:t>To operationalise constructs from survey items</a:t>
            </a:r>
          </a:p>
          <a:p>
            <a:pPr lvl="0" indent="0" marL="0">
              <a:spcBef>
                <a:spcPts val="3000"/>
              </a:spcBef>
              <a:buNone/>
            </a:pPr>
            <a:r>
              <a:rPr b="1"/>
              <a:t>Comparative Model Evaluation</a:t>
            </a:r>
          </a:p>
          <a:p>
            <a:pPr lvl="0"/>
            <a:r>
              <a:rPr/>
              <a:t>Predictive power assessment (variance explained in preventative behavior)</a:t>
            </a:r>
          </a:p>
          <a:p>
            <a:pPr lvl="0"/>
            <a:r>
              <a:rPr/>
              <a:t>Multi-group SEM for cross-country/SES/gender comparisons</a:t>
            </a:r>
          </a:p>
          <a:p>
            <a:pPr lvl="0"/>
            <a:r>
              <a:rPr/>
              <a:t>Akaike Information Criterion (AIC) &amp; Bayesian Information Criterion (BIC) for model comparison</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Annex II Chapter 2</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Annex: Chapter II BG: Malawi during waves 1 &amp; 2 of C19</a:t>
            </a:r>
          </a:p>
        </p:txBody>
      </p:sp>
      <p:pic>
        <p:nvPicPr>
          <p:cNvPr descr="media/Malawitimeline.png" id="0" name="Picture 1"/>
          <p:cNvPicPr>
            <a:picLocks noGrp="1" noChangeAspect="1"/>
          </p:cNvPicPr>
          <p:nvPr/>
        </p:nvPicPr>
        <p:blipFill>
          <a:blip r:embed="rId2"/>
          <a:stretch>
            <a:fillRect/>
          </a:stretch>
        </p:blipFill>
        <p:spPr bwMode="auto">
          <a:xfrm>
            <a:off x="3568700" y="1295400"/>
            <a:ext cx="5105400" cy="21844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Annex: Chapter II How: Outcomes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54100"/>
                <a:gridCol w="2311400"/>
                <a:gridCol w="863600"/>
                <a:gridCol w="863600"/>
              </a:tblGrid>
              <a:tr h="0">
                <a:tc>
                  <a:txBody>
                    <a:bodyPr/>
                    <a:lstStyle/>
                    <a:p>
                      <a:pPr lvl="0" indent="0" marL="0">
                        <a:buNone/>
                      </a:pPr>
                      <a:r>
                        <a:rPr>
                          <a:latin typeface="Courier"/>
                        </a:rPr>
                        <a:t>Outcome</a:t>
                      </a:r>
                    </a:p>
                  </a:txBody>
                  <a:tcPr/>
                </a:tc>
                <a:tc>
                  <a:txBody>
                    <a:bodyPr/>
                    <a:lstStyle/>
                    <a:p>
                      <a:pPr lvl="0" indent="0" marL="0">
                        <a:buNone/>
                      </a:pPr>
                      <a:r>
                        <a:rPr/>
                        <a:t>Indicators</a:t>
                      </a:r>
                    </a:p>
                  </a:txBody>
                  <a:tcPr/>
                </a:tc>
                <a:tc>
                  <a:txBody>
                    <a:bodyPr/>
                    <a:lstStyle/>
                    <a:p>
                      <a:pPr lvl="0" indent="0" marL="0">
                        <a:buNone/>
                      </a:pPr>
                      <a:r>
                        <a:rPr/>
                        <a:t>Investigation at</a:t>
                      </a:r>
                    </a:p>
                  </a:txBody>
                  <a:tcPr/>
                </a:tc>
                <a:tc>
                  <a:txBody>
                    <a:bodyPr/>
                    <a:lstStyle/>
                    <a:p>
                      <a:pPr lvl="0" indent="0" marL="0">
                        <a:buNone/>
                      </a:pPr>
                      <a:r>
                        <a:rPr/>
                        <a:t>Hypothesis tests</a:t>
                      </a:r>
                    </a:p>
                  </a:txBody>
                  <a:tcPr/>
                </a:tc>
              </a:tr>
              <a:tr h="0">
                <a:tc>
                  <a:txBody>
                    <a:bodyPr/>
                    <a:lstStyle/>
                    <a:p>
                      <a:pPr lvl="0" indent="0" marL="0">
                        <a:buNone/>
                      </a:pPr>
                      <a:r>
                        <a:rPr b="1">
                          <a:latin typeface="Courier"/>
                        </a:rPr>
                        <a:t>Social distancing</a:t>
                      </a:r>
                    </a:p>
                  </a:txBody>
                </a:tc>
                <a:tc>
                  <a:txBody>
                    <a:bodyPr/>
                    <a:lstStyle/>
                    <a:p>
                      <a:pPr lvl="0" indent="0" marL="0">
                        <a:buNone/>
                      </a:pPr>
                      <a:r>
                        <a:rPr/>
                        <a:t>Gathering attendance; non-essential travels; Reduced Shopping</a:t>
                      </a:r>
                    </a:p>
                  </a:txBody>
                </a:tc>
                <a:tc>
                  <a:txBody>
                    <a:bodyPr/>
                    <a:lstStyle/>
                    <a:p>
                      <a:pPr lvl="0" indent="0" marL="0">
                        <a:buNone/>
                      </a:pPr>
                      <a:r>
                        <a:rPr/>
                        <a:t>Multiple rounds</a:t>
                      </a:r>
                    </a:p>
                  </a:txBody>
                </a:tc>
                <a:tc>
                  <a:txBody>
                    <a:bodyPr/>
                    <a:lstStyle/>
                    <a:p>
                      <a:pPr lvl="0" indent="0" marL="0">
                        <a:buNone/>
                      </a:pPr>
                      <a:r>
                        <a:rPr/>
                        <a:t>H1, H2, H3</a:t>
                      </a:r>
                    </a:p>
                  </a:txBody>
                </a:tc>
              </a:tr>
              <a:tr h="0">
                <a:tc>
                  <a:txBody>
                    <a:bodyPr/>
                    <a:lstStyle/>
                    <a:p>
                      <a:pPr lvl="0" indent="0" marL="0">
                        <a:buNone/>
                      </a:pPr>
                      <a:r>
                        <a:rPr b="1">
                          <a:latin typeface="Courier"/>
                        </a:rPr>
                        <a:t>Hygiene &amp; Mask</a:t>
                      </a:r>
                    </a:p>
                  </a:txBody>
                </a:tc>
                <a:tc>
                  <a:txBody>
                    <a:bodyPr/>
                    <a:lstStyle/>
                    <a:p>
                      <a:pPr lvl="0" indent="0" marL="0">
                        <a:buNone/>
                      </a:pPr>
                      <a:r>
                        <a:rPr/>
                        <a:t>Hand Washing; Mask Wearing</a:t>
                      </a:r>
                    </a:p>
                  </a:txBody>
                </a:tc>
                <a:tc>
                  <a:txBody>
                    <a:bodyPr/>
                    <a:lstStyle/>
                    <a:p>
                      <a:pPr lvl="0" indent="0" marL="0">
                        <a:buNone/>
                      </a:pPr>
                      <a:r>
                        <a:rPr/>
                        <a:t>Single Round</a:t>
                      </a:r>
                    </a:p>
                  </a:txBody>
                </a:tc>
                <a:tc>
                  <a:txBody>
                    <a:bodyPr/>
                    <a:lstStyle/>
                    <a:p>
                      <a:pPr lvl="0" indent="0" marL="0">
                        <a:buNone/>
                      </a:pPr>
                      <a:r>
                        <a:rPr/>
                        <a:t>H2</a:t>
                      </a:r>
                    </a:p>
                  </a:txBody>
                </a:tc>
              </a:tr>
              <a:tr h="0">
                <a:tc>
                  <a:txBody>
                    <a:bodyPr/>
                    <a:lstStyle/>
                    <a:p>
                      <a:pPr lvl="0" indent="0" marL="0">
                        <a:buNone/>
                      </a:pPr>
                      <a:r>
                        <a:rPr b="1">
                          <a:latin typeface="Courier"/>
                        </a:rPr>
                        <a:t>Willingness to test</a:t>
                      </a:r>
                      <a:r>
                        <a:rPr/>
                        <a:t>*</a:t>
                      </a:r>
                    </a:p>
                  </a:txBody>
                </a:tc>
                <a:tc>
                  <a:txBody>
                    <a:bodyPr/>
                    <a:lstStyle/>
                    <a:p>
                      <a:pPr lvl="0" indent="0" marL="0">
                        <a:buNone/>
                      </a:pPr>
                      <a:r>
                        <a:rPr/>
                        <a:t>Willingness to test</a:t>
                      </a:r>
                    </a:p>
                  </a:txBody>
                </a:tc>
                <a:tc>
                  <a:txBody>
                    <a:bodyPr/>
                    <a:lstStyle/>
                    <a:p>
                      <a:pPr lvl="0" indent="0" marL="0">
                        <a:buNone/>
                      </a:pPr>
                      <a:r>
                        <a:rPr/>
                        <a:t>Single Round</a:t>
                      </a:r>
                    </a:p>
                  </a:txBody>
                </a:tc>
                <a:tc>
                  <a:txBody>
                    <a:bodyPr/>
                    <a:lstStyle/>
                    <a:p>
                      <a:pPr lvl="0" indent="0" marL="0">
                        <a:buNone/>
                      </a:pPr>
                      <a:r>
                        <a:rPr/>
                        <a:t>H1</a:t>
                      </a:r>
                    </a:p>
                  </a:txBody>
                </a:tc>
              </a:tr>
              <a:tr h="0">
                <a:tc>
                  <a:txBody>
                    <a:bodyPr/>
                    <a:lstStyle/>
                    <a:p>
                      <a:pPr lvl="0" indent="0" marL="0">
                        <a:buNone/>
                      </a:pPr>
                      <a:r>
                        <a:rPr b="1">
                          <a:latin typeface="Courier"/>
                        </a:rPr>
                        <a:t>Vaccine Acceptance*</a:t>
                      </a:r>
                    </a:p>
                  </a:txBody>
                </a:tc>
                <a:tc>
                  <a:txBody>
                    <a:bodyPr/>
                    <a:lstStyle/>
                    <a:p>
                      <a:pPr lvl="0" indent="0" marL="0">
                        <a:buNone/>
                      </a:pPr>
                      <a:r>
                        <a:rPr/>
                        <a:t>Willingness to vaccinate</a:t>
                      </a:r>
                    </a:p>
                  </a:txBody>
                </a:tc>
                <a:tc>
                  <a:txBody>
                    <a:bodyPr/>
                    <a:lstStyle/>
                    <a:p>
                      <a:pPr lvl="0" indent="0" marL="0">
                        <a:buNone/>
                      </a:pPr>
                      <a:r>
                        <a:rPr/>
                        <a:t>Single round</a:t>
                      </a:r>
                    </a:p>
                  </a:txBody>
                </a:tc>
                <a:tc>
                  <a:txBody>
                    <a:bodyPr/>
                    <a:lstStyle/>
                    <a:p>
                      <a:pPr lvl="0" indent="0" marL="0">
                        <a:buNone/>
                      </a:pPr>
                      <a:r>
                        <a:rPr/>
                        <a:t>H1</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*Vaccines and tests are provided for free but involve significant transaction and opportunity costs. Reddy, K.P., Fitzmaurice, K.P., Scott, J.A. et al. Clinical outcomes and cost-effectiveness of COVID-19 vaccination in South Africa. Nat Commun 12, 6238 (2021)</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Chapter II How: Treatments I</a:t>
            </a:r>
          </a:p>
          <a:p>
            <a:pPr lvl="0" indent="0" marL="0">
              <a:spcBef>
                <a:spcPts val="3000"/>
              </a:spcBef>
              <a:buNone/>
            </a:pPr>
            <a:r>
              <a:rPr b="1"/>
              <a:t>Economic Vulnerability Indicator</a:t>
            </a:r>
          </a:p>
          <a:p>
            <a:pPr lvl="0"/>
            <a:r>
              <a:rPr/>
              <a:t>Constructed from factors such as:</a:t>
            </a:r>
          </a:p>
          <a:p>
            <a:pPr lvl="1"/>
            <a:r>
              <a:rPr/>
              <a:t>Current income</a:t>
            </a:r>
          </a:p>
          <a:p>
            <a:pPr lvl="1"/>
            <a:r>
              <a:rPr/>
              <a:t>Self-reported economic stability perception</a:t>
            </a:r>
          </a:p>
          <a:p>
            <a:pPr lvl="1"/>
            <a:r>
              <a:rPr/>
              <a:t>Economic risk perception due to the pandemic</a:t>
            </a:r>
          </a:p>
          <a:p>
            <a:pPr lvl="1"/>
            <a:r>
              <a:rPr/>
              <a:t>Main income source (formal vs. informal economy)</a:t>
            </a:r>
          </a:p>
          <a:p>
            <a:pPr lvl="1"/>
            <a:r>
              <a:rPr/>
              <a:t>Consumption quantile (based on monthly spending)</a:t>
            </a:r>
          </a:p>
          <a:p>
            <a:pPr lvl="0"/>
            <a:r>
              <a:rPr/>
              <a:t>Operationalization methods under consideration:</a:t>
            </a:r>
          </a:p>
          <a:p>
            <a:pPr lvl="1"/>
            <a:r>
              <a:rPr/>
              <a:t>Inverse Probability Weighting (IPW) by Anderson</a:t>
            </a:r>
          </a:p>
          <a:p>
            <a:pPr lvl="1"/>
            <a:r>
              <a:rPr/>
              <a:t>Established economic vulnerability measures (e.g., Calvo &amp; Dercon, 2005)</a:t>
            </a:r>
          </a:p>
          <a:p>
            <a:pPr lvl="1"/>
            <a:r>
              <a:rPr/>
              <a:t>Data-driven approach (PCA or single factor analysis)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Chapter II How: Treatments II</a:t>
            </a:r>
          </a:p>
          <a:p>
            <a:pPr lvl="0" indent="0" marL="0">
              <a:spcBef>
                <a:spcPts val="3000"/>
              </a:spcBef>
              <a:buNone/>
            </a:pPr>
            <a:r>
              <a:rPr b="1"/>
              <a:t>Health Risk Perception Indicator</a:t>
            </a:r>
          </a:p>
          <a:p>
            <a:pPr lvl="0"/>
            <a:r>
              <a:rPr/>
              <a:t>Self-reported health risk perception</a:t>
            </a:r>
          </a:p>
          <a:p>
            <a:pPr lvl="0"/>
            <a:r>
              <a:rPr/>
              <a:t>Infection history and self-reported comorbidities</a:t>
            </a:r>
          </a:p>
          <a:p>
            <a:pPr lvl="0"/>
            <a:r>
              <a:rPr/>
              <a:t>Recent Covid-19 symptoms</a:t>
            </a:r>
          </a:p>
          <a:p>
            <a:pPr lvl="0" indent="0" marL="0">
              <a:spcBef>
                <a:spcPts val="3000"/>
              </a:spcBef>
              <a:buNone/>
            </a:pPr>
            <a:r>
              <a:rPr b="1"/>
              <a:t>Trade-off as interaction term</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Chapter II How: Controlling for …</a:t>
            </a:r>
          </a:p>
          <a:p>
            <a:pPr lvl="0"/>
            <a:r>
              <a:rPr/>
              <a:t>Demographics (Age, gender, education, urban/rural, etc.)</a:t>
            </a:r>
          </a:p>
          <a:p>
            <a:pPr lvl="0"/>
            <a:r>
              <a:rPr/>
              <a:t>Cultural affiliations and beliefs (religion, parties, norms, etc.)</a:t>
            </a:r>
          </a:p>
          <a:p>
            <a:pPr lvl="0"/>
            <a:r>
              <a:rPr/>
              <a:t>HH characteristics (size, adult equiv., etc.)</a:t>
            </a:r>
          </a:p>
          <a:p>
            <a:pPr lvl="0"/>
            <a:r>
              <a:rPr/>
              <a:t>Exposure to C19</a:t>
            </a:r>
          </a:p>
          <a:p>
            <a:pPr lvl="0"/>
            <a:r>
              <a:rPr/>
              <a:t>Trust in institutions &amp; conspiracy beliefs</a:t>
            </a:r>
          </a:p>
          <a:p>
            <a:pPr lvl="0"/>
            <a:r>
              <a:rPr/>
              <a:t>Mental health</a:t>
            </a:r>
          </a:p>
          <a:p>
            <a:pPr lvl="0"/>
            <a:r>
              <a:rPr/>
              <a:t>Macro context (policies, economic performance, etc.)</a:t>
            </a:r>
          </a:p>
          <a:p>
            <a:pPr lvl="0"/>
            <a:r>
              <a:rPr/>
              <a:t>And some more (self-efficacy, C19 communication exposure, news consumption, etc.)</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Annex: Chapter II How: Challenges of traditional econometric approaches I</a:t>
            </a:r>
          </a:p>
        </p:txBody>
      </p:sp>
      <p:pic>
        <p:nvPicPr>
          <p:cNvPr descr="media/Screenshot%202025-03-04%20at%2021.02.23.png" id="0" name="Picture 1"/>
          <p:cNvPicPr>
            <a:picLocks noGrp="1" noChangeAspect="1"/>
          </p:cNvPicPr>
          <p:nvPr/>
        </p:nvPicPr>
        <p:blipFill>
          <a:blip r:embed="rId2"/>
          <a:stretch>
            <a:fillRect/>
          </a:stretch>
        </p:blipFill>
        <p:spPr bwMode="auto">
          <a:xfrm>
            <a:off x="3568700" y="571500"/>
            <a:ext cx="5105400" cy="36576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Chapter II How: Challenges of traditional econometric approaches II</a:t>
            </a:r>
          </a:p>
          <a:p>
            <a:pPr lvl="0" indent="0" marL="0">
              <a:spcBef>
                <a:spcPts val="3000"/>
              </a:spcBef>
              <a:buNone/>
            </a:pPr>
            <a:r>
              <a:rPr b="1"/>
              <a:t>Strengths</a:t>
            </a:r>
          </a:p>
          <a:p>
            <a:pPr lvl="0"/>
            <a:r>
              <a:rPr/>
              <a:t>Interpretability</a:t>
            </a:r>
          </a:p>
          <a:p>
            <a:pPr lvl="0"/>
            <a:r>
              <a:rPr/>
              <a:t>Causal pathway identification</a:t>
            </a:r>
          </a:p>
          <a:p>
            <a:pPr lvl="0" indent="0" marL="0">
              <a:spcBef>
                <a:spcPts val="3000"/>
              </a:spcBef>
              <a:buNone/>
            </a:pPr>
            <a:r>
              <a:rPr b="1"/>
              <a:t>Limitations</a:t>
            </a:r>
          </a:p>
          <a:p>
            <a:pPr lvl="0"/>
            <a:r>
              <a:rPr/>
              <a:t>Exogeneity concerns</a:t>
            </a:r>
          </a:p>
          <a:p>
            <a:pPr lvl="1"/>
            <a:r>
              <a:rPr/>
              <a:t>Either RCT or</a:t>
            </a:r>
          </a:p>
          <a:p>
            <a:pPr lvl="1"/>
            <a:r>
              <a:rPr/>
              <a:t>Quasiexperimental approach difficult with income</a:t>
            </a:r>
          </a:p>
          <a:p>
            <a:pPr lvl="1"/>
            <a:r>
              <a:rPr/>
              <a:t>Controlling requires many functional assumptions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Annex: Chapter II How: Challenges of machine learning</a:t>
            </a:r>
          </a:p>
          <a:p>
            <a:pPr lvl="0" indent="0" marL="0">
              <a:spcBef>
                <a:spcPts val="3000"/>
              </a:spcBef>
              <a:buNone/>
            </a:pPr>
            <a:r>
              <a:rPr b="1"/>
              <a:t>Strengths</a:t>
            </a:r>
          </a:p>
          <a:p>
            <a:pPr lvl="0"/>
            <a:r>
              <a:rPr/>
              <a:t>Very flexible re functional forms</a:t>
            </a:r>
          </a:p>
          <a:p>
            <a:pPr lvl="0"/>
            <a:r>
              <a:rPr/>
              <a:t>Can handle large amounts of covariates</a:t>
            </a:r>
          </a:p>
          <a:p>
            <a:pPr lvl="0" indent="0" marL="0">
              <a:spcBef>
                <a:spcPts val="3000"/>
              </a:spcBef>
              <a:buNone/>
            </a:pPr>
            <a:r>
              <a:rPr b="1"/>
              <a:t>Limitations</a:t>
            </a:r>
          </a:p>
          <a:p>
            <a:pPr lvl="0"/>
            <a:r>
              <a:rPr/>
              <a:t>Overfitting concerns</a:t>
            </a:r>
          </a:p>
          <a:p>
            <a:pPr lvl="0"/>
            <a:r>
              <a:rPr/>
              <a:t>Causal pathway interpretation challenging</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Annex: Chapter II How: Double Debiased Machine Learning II</a:t>
            </a:r>
          </a:p>
          <a:p>
            <a:pPr lvl="0" indent="0" marL="0">
              <a:spcBef>
                <a:spcPts val="3000"/>
              </a:spcBef>
              <a:buNone/>
            </a:pPr>
            <a:r>
              <a:rPr b="1"/>
              <a:t>Cross-fitting to reduce overfitting and regularization bias</a:t>
            </a:r>
          </a:p>
        </p:txBody>
      </p:sp>
      <p:pic>
        <p:nvPicPr>
          <p:cNvPr descr="media/dmlcrossfit.png" id="0" name="Picture 1"/>
          <p:cNvPicPr>
            <a:picLocks noGrp="1" noChangeAspect="1"/>
          </p:cNvPicPr>
          <p:nvPr/>
        </p:nvPicPr>
        <p:blipFill>
          <a:blip r:embed="rId2"/>
          <a:stretch>
            <a:fillRect/>
          </a:stretch>
        </p:blipFill>
        <p:spPr bwMode="auto">
          <a:xfrm>
            <a:off x="3568700" y="1562100"/>
            <a:ext cx="5105400" cy="16764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Annex III Chapter 3</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Alvarez-Galvez, J, A Anastasiou, D Lamnisos, M Constantinou, C Nicolaou, S Papacostas, VS Vasiliou, et al. 2023. “The Impact of Government Actions and Risk Perception on the Promotion of Self-Protective Behaviors During the COVID-19 Pandemic.” </a:t>
            </a:r>
            <a:r>
              <a:rPr i="1"/>
              <a:t>PLOS ONE</a:t>
            </a:r>
            <a:r>
              <a:rPr/>
              <a:t> 18 (4). </a:t>
            </a:r>
            <a:r>
              <a:rPr>
                <a:hlinkClick r:id="rId2"/>
              </a:rPr>
              <a:t>https://doi.org/10.1371/journal.pone.0284433</a:t>
            </a:r>
            <a:r>
              <a:rPr/>
              <a:t>.</a:t>
            </a:r>
          </a:p>
          <a:p>
            <a:pPr lvl="0" indent="0" marL="0">
              <a:buNone/>
            </a:pPr>
            <a:r>
              <a:rPr/>
              <a:t>Badr, Hoda, Xiaotao Zhang, Abiodun Oluyomi, LeChauncy D. Woodard, Omolola E. Adepoju, Syed Ahsan Raza, and Christopher I. Amos. 2021. “Overcoming COVID-19 Vaccine Hesitancy: Insights from an Online Population-Based Survey in the United States.” </a:t>
            </a:r>
            <a:r>
              <a:rPr i="1"/>
              <a:t>Vaccines</a:t>
            </a:r>
            <a:r>
              <a:rPr/>
              <a:t> 9 (10): 1100. </a:t>
            </a:r>
            <a:r>
              <a:rPr>
                <a:hlinkClick r:id="rId3"/>
              </a:rPr>
              <a:t>https://doi.org/10.3390/vaccines9101100</a:t>
            </a:r>
            <a:r>
              <a:rPr/>
              <a:t>.</a:t>
            </a:r>
          </a:p>
          <a:p>
            <a:pPr lvl="0" indent="0" marL="0">
              <a:buNone/>
            </a:pPr>
            <a:r>
              <a:rPr/>
              <a:t>Bazrafshan, A, A Sadeghi, MS Bazrafshan, H Mirzaie, M Shafiee, J Geerts, and H Sharifi. 2023. “Health Risk Communication and Infodemic Management in Iran: Development and Validation of a Conceptual Framework.” </a:t>
            </a:r>
            <a:r>
              <a:rPr i="1"/>
              <a:t>BMJ OPEN</a:t>
            </a:r>
            <a:r>
              <a:rPr/>
              <a:t> 13 (7). </a:t>
            </a:r>
            <a:r>
              <a:rPr>
                <a:hlinkClick r:id="rId4"/>
              </a:rPr>
              <a:t>https://doi.org/10.1136/bmjopen-2023-072326</a:t>
            </a:r>
            <a:r>
              <a:rPr/>
              <a:t>.</a:t>
            </a:r>
          </a:p>
          <a:p>
            <a:pPr lvl="0" indent="0" marL="0">
              <a:buNone/>
            </a:pPr>
            <a:r>
              <a:rPr/>
              <a:t>Belloni, A., V. Chernozhukov, I. Fern�ndez-Val, and C. Hansen. 2017. “Program Evaluation and Causal Inference With High-Dimensional Data.” </a:t>
            </a:r>
            <a:r>
              <a:rPr i="1"/>
              <a:t>Econometrica</a:t>
            </a:r>
            <a:r>
              <a:rPr/>
              <a:t> 85 (1): 233–98. </a:t>
            </a:r>
            <a:r>
              <a:rPr>
                <a:hlinkClick r:id="rId5"/>
              </a:rPr>
              <a:t>https://doi.org/10.3982/ECTA12723</a:t>
            </a:r>
            <a:r>
              <a:rPr/>
              <a:t>.</a:t>
            </a:r>
          </a:p>
          <a:p>
            <a:pPr lvl="0" indent="0" marL="0">
              <a:buNone/>
            </a:pPr>
            <a:r>
              <a:rPr/>
              <a:t>Bui, Huy Nhuong, Cong Doanh Duong, Van Quang Nguyen, Ngoc Xuan Vu, Son Tung Ha, Trung Thanh Le, and Trong Nghia Vu. 2023. “Utilizing the Theory of Planned Behavior to Predict COVID-19 Vaccination Intention: A Structural Equational Modeling Approach.” </a:t>
            </a:r>
            <a:r>
              <a:rPr i="1"/>
              <a:t>Heliyon</a:t>
            </a:r>
            <a:r>
              <a:rPr/>
              <a:t> 9 (6): e17418. </a:t>
            </a:r>
            <a:r>
              <a:rPr>
                <a:hlinkClick r:id="rId6"/>
              </a:rPr>
              <a:t>https://doi.org/10.1016/j.heliyon.2023.e17418</a:t>
            </a:r>
            <a:r>
              <a:rPr/>
              <a:t>.</a:t>
            </a:r>
          </a:p>
          <a:p>
            <a:pPr lvl="0" indent="0" marL="0">
              <a:buNone/>
            </a:pPr>
            <a:r>
              <a:rPr/>
              <a:t>Catma, Serkan, and Serkan Varol. 2021. “Willingness to Pay for a Hypothetical COVID-19 Vaccine in the United States: A Contingent Valuation Approach.” </a:t>
            </a:r>
            <a:r>
              <a:rPr i="1"/>
              <a:t>Vaccines</a:t>
            </a:r>
            <a:r>
              <a:rPr/>
              <a:t> 9 (4): 318. </a:t>
            </a:r>
            <a:r>
              <a:rPr>
                <a:hlinkClick r:id="rId7"/>
              </a:rPr>
              <a:t>https://doi.org/10.3390/vaccines9040318</a:t>
            </a:r>
            <a:r>
              <a:rPr/>
              <a:t>.</a:t>
            </a:r>
          </a:p>
          <a:p>
            <a:pPr lvl="0" indent="0" marL="0">
              <a:buNone/>
            </a:pPr>
            <a:r>
              <a:rPr/>
              <a:t>Chernozhukov, Victor, Denis Chetverikov, Mert Demirer, Esther Duflo, Christian Hansen, Whitney Newey, and James Robins. 2018. “Double/Debiased Machine Learning for Treatment and Structural Parameters.” </a:t>
            </a:r>
            <a:r>
              <a:rPr i="1"/>
              <a:t>The Econometrics Journal</a:t>
            </a:r>
            <a:r>
              <a:rPr/>
              <a:t> 21 (1): C1–68. </a:t>
            </a:r>
            <a:r>
              <a:rPr>
                <a:hlinkClick r:id="rId8"/>
              </a:rPr>
              <a:t>https://doi.org/10.1111/ectj.12097</a:t>
            </a:r>
            <a:r>
              <a:rPr/>
              <a:t>.</a:t>
            </a:r>
          </a:p>
          <a:p>
            <a:pPr lvl="0" indent="0" marL="0">
              <a:buNone/>
            </a:pPr>
            <a:r>
              <a:rPr/>
              <a:t>Erman, Aysegul, and Mike Medeiros. 2021. “Exploring the Effect of Collective Cultural Attributes on Covid-19-Related Public Health Outcomes.” </a:t>
            </a:r>
            <a:r>
              <a:rPr i="1"/>
              <a:t>Frontiers in Psychology</a:t>
            </a:r>
            <a:r>
              <a:rPr/>
              <a:t> 12 (March): 627669. </a:t>
            </a:r>
            <a:r>
              <a:rPr>
                <a:hlinkClick r:id="rId9"/>
              </a:rPr>
              <a:t>https://doi.org/10.3389/fpsyg.2021.627669</a:t>
            </a:r>
            <a:r>
              <a:rPr/>
              <a:t>.</a:t>
            </a:r>
          </a:p>
          <a:p>
            <a:pPr lvl="0" indent="0" marL="0">
              <a:buNone/>
            </a:pPr>
            <a:r>
              <a:rPr/>
              <a:t>Ferreira Caceres, Maria Mercedes, Juan Pablo Sosa, Jannel A Lawrence, Cristina Sestacovschi, Atiyah Tidd-Johnson, Muhammad Haseeb UI Rasool, Vinay Kumar Gadamidi, et al. 2022. “The Impact of Misinformation on the COVID-19 Pandemic.” </a:t>
            </a:r>
            <a:r>
              <a:rPr i="1"/>
              <a:t>AIMS Public Health</a:t>
            </a:r>
            <a:r>
              <a:rPr/>
              <a:t> 9 (2): 262–77. </a:t>
            </a:r>
            <a:r>
              <a:rPr>
                <a:hlinkClick r:id="rId10"/>
              </a:rPr>
              <a:t>https://doi.org/10.3934/publichealth.2022018</a:t>
            </a:r>
            <a:r>
              <a:rPr/>
              <a:t>.</a:t>
            </a:r>
          </a:p>
          <a:p>
            <a:pPr lvl="0" indent="0" marL="0">
              <a:buNone/>
            </a:pPr>
            <a:r>
              <a:rPr/>
              <a:t>Filsinger, M, and M Freitag. 2024. “Asymmetric Affective Polarization Regarding COVID-19 Vaccination in Six European Countries.” </a:t>
            </a:r>
            <a:r>
              <a:rPr i="1"/>
              <a:t>SCIENTIFIC REPORTS</a:t>
            </a:r>
            <a:r>
              <a:rPr/>
              <a:t> 14 (1). </a:t>
            </a:r>
            <a:r>
              <a:rPr>
                <a:hlinkClick r:id="rId11"/>
              </a:rPr>
              <a:t>https://doi.org/10.1038/s41598-024-66756-w</a:t>
            </a:r>
            <a:r>
              <a:rPr/>
              <a:t>.</a:t>
            </a:r>
          </a:p>
          <a:p>
            <a:pPr lvl="0" indent="0" marL="0">
              <a:buNone/>
            </a:pPr>
            <a:r>
              <a:rPr/>
              <a:t>Gelfand, Michele J, Joshua Conrad Jackson, Xinyue Pan, Dana Nau, Dylan Pieper, Emmy Denison, Munqith Dagher, Paul A M Van Lange, Chi-Yue Chiu, and Mo Wang. 2021. “The Relationship Between Cultural Tightness–Looseness and COVID-19 Cases and Deaths: A Global Analysis.” </a:t>
            </a:r>
            <a:r>
              <a:rPr i="1"/>
              <a:t>The Lancet. Planetary Health</a:t>
            </a:r>
            <a:r>
              <a:rPr/>
              <a:t> 5 (3): e135–44. </a:t>
            </a:r>
            <a:r>
              <a:rPr>
                <a:hlinkClick r:id="rId12"/>
              </a:rPr>
              <a:t>https://doi.org/10.1016/S2542-5196(20)30301-6</a:t>
            </a:r>
            <a:r>
              <a:rPr/>
              <a:t>.</a:t>
            </a:r>
          </a:p>
          <a:p>
            <a:pPr lvl="0" indent="0" marL="0">
              <a:buNone/>
            </a:pPr>
            <a:r>
              <a:rPr/>
              <a:t>Govind, R, N Garg, and L Carter. 2024. “Selling Hope Versus Hate: The Impact of Partisan Social Media Messaging on Social Distancing During the COVID-19 Pandemic.” </a:t>
            </a:r>
            <a:r>
              <a:rPr i="1"/>
              <a:t>EUROPEAN JOURNAL OF MARKETING</a:t>
            </a:r>
            <a:r>
              <a:rPr/>
              <a:t> 58 (2): 632–58. </a:t>
            </a:r>
            <a:r>
              <a:rPr>
                <a:hlinkClick r:id="rId13"/>
              </a:rPr>
              <a:t>https://doi.org/10.1108/EJM-12-2022-0911</a:t>
            </a:r>
            <a:r>
              <a:rPr/>
              <a:t>.</a:t>
            </a:r>
          </a:p>
          <a:p>
            <a:pPr lvl="0" indent="0" marL="0">
              <a:buNone/>
            </a:pPr>
            <a:r>
              <a:rPr/>
              <a:t>Grossman, Michael. 1972. “On the Concept of Health Capital and the Demand for Health.” </a:t>
            </a:r>
            <a:r>
              <a:rPr i="1"/>
              <a:t>Journal of Political Economy</a:t>
            </a:r>
            <a:r>
              <a:rPr/>
              <a:t> 80 (2): 223–55. </a:t>
            </a:r>
            <a:r>
              <a:rPr>
                <a:hlinkClick r:id="rId14"/>
              </a:rPr>
              <a:t>https://www.jstor.org/stable/1830580</a:t>
            </a:r>
            <a:r>
              <a:rPr/>
              <a:t>.</a:t>
            </a:r>
          </a:p>
          <a:p>
            <a:pPr lvl="0" indent="0" marL="0">
              <a:buNone/>
            </a:pPr>
            <a:r>
              <a:rPr/>
              <a:t>Guimaraes, RM, JHCM da Silva, GPD Brusse, and TCD Martins. 2021. “Effect of Physical Distancing on Covid-19 Incidence in Brazil: Does the Strictness of Mandatory Rules Matter?” </a:t>
            </a:r>
            <a:r>
              <a:rPr i="1"/>
              <a:t>HEALTH POLICY AND PLANNING</a:t>
            </a:r>
            <a:r>
              <a:rPr/>
              <a:t> 36 (10): 1605–12. </a:t>
            </a:r>
            <a:r>
              <a:rPr>
                <a:hlinkClick r:id="rId15"/>
              </a:rPr>
              <a:t>https://doi.org/10.1093/heapol/czab110</a:t>
            </a:r>
            <a:r>
              <a:rPr/>
              <a:t>.</a:t>
            </a:r>
          </a:p>
          <a:p>
            <a:pPr lvl="0" indent="0" marL="0">
              <a:buNone/>
            </a:pPr>
            <a:r>
              <a:rPr/>
              <a:t>He, YP, H Yatsuya, A Ota, and T Tabuchi. 2022. “The Association of Public Trust with the Utilization of Digital Contact Tracing for COVID-19 in Japan.” </a:t>
            </a:r>
            <a:r>
              <a:rPr i="1"/>
              <a:t>PUBLIC HEALTH IN PRACTICE</a:t>
            </a:r>
            <a:r>
              <a:rPr/>
              <a:t> 4 (December). </a:t>
            </a:r>
            <a:r>
              <a:rPr>
                <a:hlinkClick r:id="rId16"/>
              </a:rPr>
              <a:t>https://doi.org/10.1016/j.puhip.2022.100279</a:t>
            </a:r>
            <a:r>
              <a:rPr/>
              <a:t>.</a:t>
            </a:r>
          </a:p>
          <a:p>
            <a:pPr lvl="0" indent="0" marL="0">
              <a:buNone/>
            </a:pPr>
            <a:r>
              <a:rPr/>
              <a:t>Keshet, Y. 2020. “Fear of Panoptic Surveillance: Using Digital Technology to Control the COVID-19 Epidemic.” </a:t>
            </a:r>
            <a:r>
              <a:rPr i="1"/>
              <a:t>ISRAEL JOURNAL OF HEALTH POLICY RESEARCH</a:t>
            </a:r>
            <a:r>
              <a:rPr/>
              <a:t> 9 (1). </a:t>
            </a:r>
            <a:r>
              <a:rPr>
                <a:hlinkClick r:id="rId17"/>
              </a:rPr>
              <a:t>https://doi.org/10.1186/s13584-020-00429-7</a:t>
            </a:r>
            <a:r>
              <a:rPr/>
              <a:t>.</a:t>
            </a:r>
          </a:p>
          <a:p>
            <a:pPr lvl="0" indent="0" marL="0">
              <a:buNone/>
            </a:pPr>
            <a:r>
              <a:rPr/>
              <a:t>Li, Yongnan, Lanying Hu, Xin’e Mao, Yijing Shen, Huiping Xue, Ping Hou, and Yongbing Liu. 2020. “Health Literacy, Social Support, and Care Ability for Caregivers of Dementia Patients: Structural Equation Modeling.” </a:t>
            </a:r>
            <a:r>
              <a:rPr i="1"/>
              <a:t>Geriatric Nursing</a:t>
            </a:r>
            <a:r>
              <a:rPr/>
              <a:t> 41 (5): 600–607. </a:t>
            </a:r>
            <a:r>
              <a:rPr>
                <a:hlinkClick r:id="rId18"/>
              </a:rPr>
              <a:t>https://doi.org/10.1016/j.gerinurse.2020.03.014</a:t>
            </a:r>
            <a:r>
              <a:rPr/>
              <a:t>.</a:t>
            </a:r>
          </a:p>
          <a:p>
            <a:pPr lvl="0" indent="0" marL="0">
              <a:buNone/>
            </a:pPr>
            <a:r>
              <a:rPr/>
              <a:t>Makridis, Christos A., and Cary Wu. 2021. “How Social Capital Helps Communities Weather the COVID-19 Pandemic.” </a:t>
            </a:r>
            <a:r>
              <a:rPr i="1"/>
              <a:t>PLOS ONE</a:t>
            </a:r>
            <a:r>
              <a:rPr/>
              <a:t> 16 (1): e0245135. </a:t>
            </a:r>
            <a:r>
              <a:rPr>
                <a:hlinkClick r:id="rId19"/>
              </a:rPr>
              <a:t>https://doi.org/10.1371/journal.pone.0245135</a:t>
            </a:r>
            <a:r>
              <a:rPr/>
              <a:t>.</a:t>
            </a:r>
          </a:p>
          <a:p>
            <a:pPr lvl="0" indent="0" marL="0">
              <a:buNone/>
            </a:pPr>
            <a:r>
              <a:rPr/>
              <a:t>Miftode, RS, II Costache, P Cianga, AO Petris, CM Cianga, MA Maranduca, IL Miftode, et al. 2021. “The Influence of Socioeconomic Status on the Prognosis and Profile of Patients Admitted for Acute Heart Failure During COVID-19 Pandemic: Overestimated Aspects or a Multifaceted Hydra of Cardiovascular Risk Factors?” </a:t>
            </a:r>
            <a:r>
              <a:rPr i="1"/>
              <a:t>HEALTHCARE</a:t>
            </a:r>
            <a:r>
              <a:rPr/>
              <a:t> 9 (12). </a:t>
            </a:r>
            <a:r>
              <a:rPr>
                <a:hlinkClick r:id="rId20"/>
              </a:rPr>
              <a:t>https://doi.org/10.3390/healthcare9121700</a:t>
            </a:r>
            <a:r>
              <a:rPr/>
              <a:t>.</a:t>
            </a:r>
          </a:p>
          <a:p>
            <a:pPr lvl="0" indent="0" marL="0">
              <a:buNone/>
            </a:pPr>
            <a:r>
              <a:rPr/>
              <a:t>Miyazato, Naomi, Yoko Ibuka, and Jun-ichi Itaya. 2024. “Peer Effects on Influenza Vaccination: Evidence from a City’s Administrative Data in Japan.” </a:t>
            </a:r>
            <a:r>
              <a:rPr i="1"/>
              <a:t>Journal of the Japanese and International Economies</a:t>
            </a:r>
            <a:r>
              <a:rPr/>
              <a:t> 74 (December): 101335. </a:t>
            </a:r>
            <a:r>
              <a:rPr>
                <a:hlinkClick r:id="rId21"/>
              </a:rPr>
              <a:t>https://doi.org/10.1016/j.jjie.2024.101335</a:t>
            </a:r>
            <a:r>
              <a:rPr/>
              <a:t>.</a:t>
            </a:r>
          </a:p>
          <a:p>
            <a:pPr lvl="0" indent="0" marL="0">
              <a:buNone/>
            </a:pPr>
            <a:r>
              <a:rPr/>
              <a:t>Mohammed, E, S Khanal, Z Jalal, E Cheema, MH Abutaleb, and V Paudyal. 2021. “Perceived Barriers and Facilitators to Uptake of Non-Traditional Roles by Pharmacists in Saudi Arabia and Implications for COVID-19 Pandemic and Beyond: A Qualitative Study Using Theoretical Domain Framework.” </a:t>
            </a:r>
            <a:r>
              <a:rPr i="1"/>
              <a:t>JOURNAL OF PHARMACEUTICAL POLICY AND PRACTICE</a:t>
            </a:r>
            <a:r>
              <a:rPr/>
              <a:t> 14 (1). </a:t>
            </a:r>
            <a:r>
              <a:rPr>
                <a:hlinkClick r:id="rId22"/>
              </a:rPr>
              <a:t>https://doi.org/10.1186/s40545-021-00307-w</a:t>
            </a:r>
            <a:r>
              <a:rPr/>
              <a:t>.</a:t>
            </a:r>
          </a:p>
          <a:p>
            <a:pPr lvl="0" indent="0" marL="0">
              <a:buNone/>
            </a:pPr>
            <a:r>
              <a:rPr/>
              <a:t>Nair, Nisha, Patturaja Selvaraj, and Ranjeet Nambudiri. 2022. “Culture and COVID-19: Impact of Cross-Cultural Dimensions on Behavioral Responses.” </a:t>
            </a:r>
            <a:r>
              <a:rPr i="1"/>
              <a:t>Encyclopedia</a:t>
            </a:r>
            <a:r>
              <a:rPr/>
              <a:t> 2 (3): 1210–24. </a:t>
            </a:r>
            <a:r>
              <a:rPr>
                <a:hlinkClick r:id="rId23"/>
              </a:rPr>
              <a:t>https://doi.org/10.3390/encyclopedia2030081</a:t>
            </a:r>
            <a:r>
              <a:rPr/>
              <a:t>.</a:t>
            </a:r>
          </a:p>
          <a:p>
            <a:pPr lvl="0" indent="0" marL="0">
              <a:buNone/>
            </a:pPr>
            <a:r>
              <a:rPr/>
              <a:t>Neville, Fergus G., Anne Templeton, Joanne R. Smith, and Winnifred R. Louis. 2021. “Social Norms, Social Identities and the COVID-19 Pandemic: Theory and Recommendations.” </a:t>
            </a:r>
            <a:r>
              <a:rPr i="1"/>
              <a:t>Social and Personality Psychology Compass</a:t>
            </a:r>
            <a:r>
              <a:rPr/>
              <a:t> 15 (5): e12596. </a:t>
            </a:r>
            <a:r>
              <a:rPr>
                <a:hlinkClick r:id="rId24"/>
              </a:rPr>
              <a:t>https://doi.org/10.1111/spc3.12596</a:t>
            </a:r>
            <a:r>
              <a:rPr/>
              <a:t>.</a:t>
            </a:r>
          </a:p>
          <a:p>
            <a:pPr lvl="0" indent="0" marL="0">
              <a:buNone/>
            </a:pPr>
            <a:r>
              <a:rPr/>
              <a:t>Newton, D., J. Stephenson, L. Azevedo, R. K. Sah, A. N. Poudel, and O. Richardson. 2024. “The Impact of Social Determinants on Health Outcomes in a Region in the North of England: A Structural Equation Modelling Analysis.” </a:t>
            </a:r>
            <a:r>
              <a:rPr i="1"/>
              <a:t>Public Health</a:t>
            </a:r>
            <a:r>
              <a:rPr/>
              <a:t> 231 (June): 198–203. </a:t>
            </a:r>
            <a:r>
              <a:rPr>
                <a:hlinkClick r:id="rId25"/>
              </a:rPr>
              <a:t>https://doi.org/10.1016/j.puhe.2024.03.024</a:t>
            </a:r>
            <a:r>
              <a:rPr/>
              <a:t>.</a:t>
            </a:r>
          </a:p>
          <a:p>
            <a:pPr lvl="0" indent="0" marL="0">
              <a:buNone/>
            </a:pPr>
            <a:r>
              <a:rPr/>
              <a:t>Neyman, J., and Elizabeth L. Scott. 1948. “Consistent Estimates Based on Partially Consistent Observations.” </a:t>
            </a:r>
            <a:r>
              <a:rPr i="1"/>
              <a:t>Econometrica</a:t>
            </a:r>
            <a:r>
              <a:rPr/>
              <a:t> 16 (1): 1–32. </a:t>
            </a:r>
            <a:r>
              <a:rPr>
                <a:hlinkClick r:id="rId26"/>
              </a:rPr>
              <a:t>https://doi.org/10.2307/1914288</a:t>
            </a:r>
            <a:r>
              <a:rPr/>
              <a:t>.</a:t>
            </a:r>
          </a:p>
          <a:p>
            <a:pPr lvl="0" indent="0" marL="0">
              <a:buNone/>
            </a:pPr>
            <a:r>
              <a:rPr/>
              <a:t>Stevens, AJ, AM Ray, A Thirunavukarasu, E Johnson, L Jones, A Miller, and JWT Elston. 2021. “The Experiences of Socially Vulnerable Groups in England During the COVID-19 Pandemic: A Rapid Health Needs Assessment.” </a:t>
            </a:r>
            <a:r>
              <a:rPr i="1"/>
              <a:t>PUBLIC HEALTH IN PRACTICE</a:t>
            </a:r>
            <a:r>
              <a:rPr/>
              <a:t> 2 (November). </a:t>
            </a:r>
            <a:r>
              <a:rPr>
                <a:hlinkClick r:id="rId27"/>
              </a:rPr>
              <a:t>https://doi.org/10.1016/j.puhip.2021.100192</a:t>
            </a:r>
            <a:r>
              <a:rPr/>
              <a:t>.</a:t>
            </a:r>
          </a:p>
          <a:p>
            <a:pPr lvl="0" indent="0" marL="0">
              <a:buNone/>
            </a:pPr>
            <a:r>
              <a:rPr/>
              <a:t>Wollast, Robin, Mathias Schmitz, Alix Bigot, and Olivier Luminet. 2021. “The Theory of Planned Behavior During the COVID-19 Pandemic: A Comparison of Health Behaviors Between Belgian and French Residents.” </a:t>
            </a:r>
            <a:r>
              <a:rPr i="1"/>
              <a:t>PLoS ONE</a:t>
            </a:r>
            <a:r>
              <a:rPr/>
              <a:t> 16 (11): e0258320. </a:t>
            </a:r>
            <a:r>
              <a:rPr>
                <a:hlinkClick r:id="rId28"/>
              </a:rPr>
              <a:t>https://doi.org/10.1371/journal.pone.0258320</a:t>
            </a:r>
            <a:r>
              <a:rPr/>
              <a:t>.</a:t>
            </a:r>
          </a:p>
          <a:p>
            <a:pPr lvl="0" indent="0" marL="0">
              <a:buNone/>
            </a:pPr>
            <a:r>
              <a:rPr/>
              <a:t>Xiong, YF, CT Wang, and Y Zhang. 2024. “Interacting Particle Models on the Impact of Spatially Heterogeneous Human Behavioral Factors on Dynamics of Infectious Diseases.” </a:t>
            </a:r>
            <a:r>
              <a:rPr i="1"/>
              <a:t>PLOS COMPUTATIONAL BIOLOGY</a:t>
            </a:r>
            <a:r>
              <a:rPr/>
              <a:t> 20 (8). </a:t>
            </a:r>
            <a:r>
              <a:rPr>
                <a:hlinkClick r:id="rId29"/>
              </a:rPr>
              <a:t>https://doi.org/10.1371/journal.pcbi.1012345</a:t>
            </a:r>
            <a:r>
              <a:rPr/>
              <a:t>.</a:t>
            </a:r>
          </a:p>
          <a:p>
            <a:pPr lvl="0" indent="0" marL="0">
              <a:buNone/>
            </a:pPr>
            <a:r>
              <a:rPr/>
              <a:t>Zu, J, MW Shen, CK Fairley, ML Li, GQ Li, LB Rong, YN Xiao, GH Zhuang, L Zhang, and Y Li. 2021. “Investigating the Relationship Between Reopening the Economy and Implementing Control Measures During the COVID-19 Pandemic.” </a:t>
            </a:r>
            <a:r>
              <a:rPr i="1"/>
              <a:t>PUBLIC HEALTH</a:t>
            </a:r>
            <a:r>
              <a:rPr/>
              <a:t> 200 (November): 15–21. </a:t>
            </a:r>
            <a:r>
              <a:rPr>
                <a:hlinkClick r:id="rId30"/>
              </a:rPr>
              <a:t>https://doi.org/10.1016/j.puhe.2021.09.005</a:t>
            </a:r>
            <a:r>
              <a:rPr/>
              <a:t>.</a:t>
            </a:r>
          </a:p>
          <a:p>
            <a:pPr lvl="0" indent="0" marL="0">
              <a:buNone/>
            </a:pPr>
            <a:r>
              <a:rPr/>
              <a:t>Zucoloto, ML, AC Meneghini, and EZ Martinez. 2022. “Panorama of COVID-19, Risk Perception and Vaccine Confidence in Sao Paulo State Population, Southeast Brazil.” </a:t>
            </a:r>
            <a:r>
              <a:rPr i="1"/>
              <a:t>HEALTH &amp; SOCIAL CARE IN THE COMMUNITY</a:t>
            </a:r>
            <a:r>
              <a:rPr/>
              <a:t> 30 (6): E4662–72. </a:t>
            </a:r>
            <a:r>
              <a:rPr>
                <a:hlinkClick r:id="rId31"/>
              </a:rPr>
              <a:t>https://doi.org/10.1111/hsc.13872</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public health compliance in emergencies</dc:title>
  <dc:creator>Jonas Weinert</dc:creator>
  <cp:keywords/>
  <dcterms:created xsi:type="dcterms:W3CDTF">2025-03-19T13:32:57Z</dcterms:created>
  <dcterms:modified xsi:type="dcterms:W3CDTF">2025-03-19T13:32:57Z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date">
    <vt:lpwstr>2025-03-19</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lide-number">
    <vt:lpwstr>c</vt:lpwstr>
  </property>
  <property fmtid="{D5CDD505-2E9C-101B-9397-08002B2CF9AE}" pid="12" name="subtitle">
    <vt:lpwstr>An investigation of the heterogeneity and pathways of factors that shape our behaviour during public health crises in LMICs</vt:lpwstr>
  </property>
  <property fmtid="{D5CDD505-2E9C-101B-9397-08002B2CF9AE}" pid="13" name="toc-title">
    <vt:lpwstr>Table of contents</vt:lpwstr>
  </property>
</Properties>
</file>